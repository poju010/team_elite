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22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Sales (NGN M)</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105A-4FDA-B0C1-132BB7BC078F}"/>
              </c:ext>
            </c:extLst>
          </c:dPt>
          <c:dPt>
            <c:idx val="1"/>
            <c:invertIfNegative val="0"/>
            <c:bubble3D val="0"/>
            <c:spPr>
              <a:solidFill>
                <a:srgbClr val="2E3A8C"/>
              </a:solidFill>
              <a:effectLst/>
            </c:spPr>
            <c:extLst>
              <c:ext xmlns:c16="http://schemas.microsoft.com/office/drawing/2014/chart" uri="{C3380CC4-5D6E-409C-BE32-E72D297353CC}">
                <c16:uniqueId val="{00000003-105A-4FDA-B0C1-132BB7BC078F}"/>
              </c:ext>
            </c:extLst>
          </c:dPt>
          <c:dPt>
            <c:idx val="2"/>
            <c:invertIfNegative val="0"/>
            <c:bubble3D val="0"/>
            <c:spPr>
              <a:solidFill>
                <a:srgbClr val="4A57A8"/>
              </a:solidFill>
              <a:effectLst/>
            </c:spPr>
            <c:extLst>
              <c:ext xmlns:c16="http://schemas.microsoft.com/office/drawing/2014/chart" uri="{C3380CC4-5D6E-409C-BE32-E72D297353CC}">
                <c16:uniqueId val="{00000005-105A-4FDA-B0C1-132BB7BC078F}"/>
              </c:ext>
            </c:extLst>
          </c:dPt>
          <c:dPt>
            <c:idx val="3"/>
            <c:invertIfNegative val="0"/>
            <c:bubble3D val="0"/>
            <c:spPr>
              <a:solidFill>
                <a:srgbClr val="8590C4"/>
              </a:solidFill>
              <a:effectLst/>
            </c:spPr>
            <c:extLst>
              <c:ext xmlns:c16="http://schemas.microsoft.com/office/drawing/2014/chart" uri="{C3380CC4-5D6E-409C-BE32-E72D297353CC}">
                <c16:uniqueId val="{00000007-105A-4FDA-B0C1-132BB7BC078F}"/>
              </c:ext>
            </c:extLst>
          </c:dPt>
          <c:dPt>
            <c:idx val="4"/>
            <c:invertIfNegative val="0"/>
            <c:bubble3D val="0"/>
            <c:spPr>
              <a:solidFill>
                <a:srgbClr val="C4CAE6"/>
              </a:solidFill>
              <a:effectLst/>
            </c:spPr>
            <c:extLst>
              <c:ext xmlns:c16="http://schemas.microsoft.com/office/drawing/2014/chart" uri="{C3380CC4-5D6E-409C-BE32-E72D297353CC}">
                <c16:uniqueId val="{00000009-105A-4FDA-B0C1-132BB7BC078F}"/>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Port Harcourt</c:v>
                </c:pt>
                <c:pt idx="1">
                  <c:v>Abuja Central</c:v>
                </c:pt>
                <c:pt idx="2">
                  <c:v>Ibadan</c:v>
                </c:pt>
                <c:pt idx="3">
                  <c:v>Lagos Island</c:v>
                </c:pt>
                <c:pt idx="4">
                  <c:v>Kano</c:v>
                </c:pt>
              </c:strCache>
            </c:strRef>
          </c:cat>
          <c:val>
            <c:numRef>
              <c:f>Sheet1!$B$2:$B$6</c:f>
              <c:numCache>
                <c:formatCode>General</c:formatCode>
                <c:ptCount val="5"/>
                <c:pt idx="0">
                  <c:v>861.67029300000002</c:v>
                </c:pt>
                <c:pt idx="1">
                  <c:v>765.802054</c:v>
                </c:pt>
                <c:pt idx="2">
                  <c:v>763.98633099999995</c:v>
                </c:pt>
                <c:pt idx="3">
                  <c:v>723.44622000000004</c:v>
                </c:pt>
                <c:pt idx="4">
                  <c:v>646.55437500000005</c:v>
                </c:pt>
              </c:numCache>
            </c:numRef>
          </c:val>
          <c:extLst>
            <c:ext xmlns:c16="http://schemas.microsoft.com/office/drawing/2014/chart" uri="{C3380CC4-5D6E-409C-BE32-E72D297353CC}">
              <c16:uniqueId val="{0000000A-105A-4FDA-B0C1-132BB7BC078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Sales (NGN Millions)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Monthly Sales (NGN M)</c:v>
                </c:pt>
              </c:strCache>
            </c:strRef>
          </c:tx>
          <c:spPr>
            <a:ln w="31750" cap="flat">
              <a:solidFill>
                <a:srgbClr val="C00000"/>
              </a:solidFill>
              <a:prstDash val="solid"/>
              <a:round/>
            </a:ln>
            <a:effectLst/>
          </c:spPr>
          <c:marker>
            <c:symbol val="circle"/>
            <c:size val="5"/>
            <c:spPr>
              <a:solidFill>
                <a:srgbClr val="C00000"/>
              </a:solidFill>
              <a:ln w="9525" cap="flat">
                <a:solidFill>
                  <a:srgbClr val="C00000"/>
                </a:solidFill>
                <a:prstDash val="solid"/>
                <a:round/>
              </a:ln>
              <a:effectLst/>
            </c:spPr>
          </c:marker>
          <c:cat>
            <c:strRef>
              <c:f>Sheet1!$A$2:$A$25</c:f>
              <c:strCache>
                <c:ptCount val="24"/>
                <c:pt idx="0">
                  <c:v>Jan-23</c:v>
                </c:pt>
                <c:pt idx="1">
                  <c:v>Feb-23</c:v>
                </c:pt>
                <c:pt idx="2">
                  <c:v>Mar-23</c:v>
                </c:pt>
                <c:pt idx="3">
                  <c:v>Apr-23</c:v>
                </c:pt>
                <c:pt idx="4">
                  <c:v>May-23</c:v>
                </c:pt>
                <c:pt idx="5">
                  <c:v>Jun-23</c:v>
                </c:pt>
                <c:pt idx="6">
                  <c:v>Jul-23</c:v>
                </c:pt>
                <c:pt idx="7">
                  <c:v>Aug-23</c:v>
                </c:pt>
                <c:pt idx="8">
                  <c:v>Sep-23</c:v>
                </c:pt>
                <c:pt idx="9">
                  <c:v>Oct-23</c:v>
                </c:pt>
                <c:pt idx="10">
                  <c:v>Nov-23</c:v>
                </c:pt>
                <c:pt idx="11">
                  <c:v>Dec-23</c:v>
                </c:pt>
                <c:pt idx="12">
                  <c:v>Jan-24</c:v>
                </c:pt>
                <c:pt idx="13">
                  <c:v>Feb-24</c:v>
                </c:pt>
                <c:pt idx="14">
                  <c:v>Mar-24</c:v>
                </c:pt>
                <c:pt idx="15">
                  <c:v>Apr-24</c:v>
                </c:pt>
                <c:pt idx="16">
                  <c:v>May-24</c:v>
                </c:pt>
                <c:pt idx="17">
                  <c:v>Jun-24</c:v>
                </c:pt>
                <c:pt idx="18">
                  <c:v>Jul-24</c:v>
                </c:pt>
                <c:pt idx="19">
                  <c:v>Aug-24</c:v>
                </c:pt>
                <c:pt idx="20">
                  <c:v>Sep-24</c:v>
                </c:pt>
                <c:pt idx="21">
                  <c:v>Oct-24</c:v>
                </c:pt>
                <c:pt idx="22">
                  <c:v>Nov-24</c:v>
                </c:pt>
                <c:pt idx="23">
                  <c:v>Dec-24</c:v>
                </c:pt>
              </c:strCache>
            </c:strRef>
          </c:cat>
          <c:val>
            <c:numRef>
              <c:f>Sheet1!$B$2:$B$25</c:f>
              <c:numCache>
                <c:formatCode>General</c:formatCode>
                <c:ptCount val="24"/>
                <c:pt idx="0">
                  <c:v>172.743414</c:v>
                </c:pt>
                <c:pt idx="1">
                  <c:v>122.710425</c:v>
                </c:pt>
                <c:pt idx="2">
                  <c:v>161.56892999999999</c:v>
                </c:pt>
                <c:pt idx="3">
                  <c:v>179.020385</c:v>
                </c:pt>
                <c:pt idx="4">
                  <c:v>174.87932599999999</c:v>
                </c:pt>
                <c:pt idx="5">
                  <c:v>122.390407</c:v>
                </c:pt>
                <c:pt idx="6">
                  <c:v>121.978033</c:v>
                </c:pt>
                <c:pt idx="7">
                  <c:v>159.071493</c:v>
                </c:pt>
                <c:pt idx="8">
                  <c:v>178.06409199999999</c:v>
                </c:pt>
                <c:pt idx="9">
                  <c:v>144.80794399999999</c:v>
                </c:pt>
                <c:pt idx="10">
                  <c:v>149.44140200000001</c:v>
                </c:pt>
                <c:pt idx="11">
                  <c:v>165.29026999999999</c:v>
                </c:pt>
                <c:pt idx="12">
                  <c:v>186.27691799999999</c:v>
                </c:pt>
                <c:pt idx="13">
                  <c:v>155.349628</c:v>
                </c:pt>
                <c:pt idx="14">
                  <c:v>131.17867000000001</c:v>
                </c:pt>
                <c:pt idx="15">
                  <c:v>133.82141799999999</c:v>
                </c:pt>
                <c:pt idx="16">
                  <c:v>168.779393</c:v>
                </c:pt>
                <c:pt idx="17">
                  <c:v>133.11487600000001</c:v>
                </c:pt>
                <c:pt idx="18">
                  <c:v>176.13811899999999</c:v>
                </c:pt>
                <c:pt idx="19">
                  <c:v>189.44125</c:v>
                </c:pt>
                <c:pt idx="20">
                  <c:v>165.68182300000001</c:v>
                </c:pt>
                <c:pt idx="21">
                  <c:v>141.418195</c:v>
                </c:pt>
                <c:pt idx="22">
                  <c:v>163.42323099999999</c:v>
                </c:pt>
                <c:pt idx="23">
                  <c:v>164.869631</c:v>
                </c:pt>
              </c:numCache>
            </c:numRef>
          </c:val>
          <c:smooth val="0"/>
          <c:extLst>
            <c:ext xmlns:c16="http://schemas.microsoft.com/office/drawing/2014/chart" uri="{C3380CC4-5D6E-409C-BE32-E72D297353CC}">
              <c16:uniqueId val="{00000000-A308-4FCF-9F22-6A1CB4E473A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Sales (NGN Millions)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Contribution %</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AEAF-4DD0-8082-8BD0BC390E4D}"/>
              </c:ext>
            </c:extLst>
          </c:dPt>
          <c:dPt>
            <c:idx val="1"/>
            <c:bubble3D val="0"/>
            <c:spPr>
              <a:solidFill>
                <a:srgbClr val="C00000"/>
              </a:solidFill>
              <a:effectLst/>
            </c:spPr>
            <c:extLst>
              <c:ext xmlns:c16="http://schemas.microsoft.com/office/drawing/2014/chart" uri="{C3380CC4-5D6E-409C-BE32-E72D297353CC}">
                <c16:uniqueId val="{00000003-AEAF-4DD0-8082-8BD0BC390E4D}"/>
              </c:ext>
            </c:extLst>
          </c:dPt>
          <c:dPt>
            <c:idx val="2"/>
            <c:bubble3D val="0"/>
            <c:spPr>
              <a:solidFill>
                <a:srgbClr val="4A57A8"/>
              </a:solidFill>
              <a:effectLst/>
            </c:spPr>
            <c:extLst>
              <c:ext xmlns:c16="http://schemas.microsoft.com/office/drawing/2014/chart" uri="{C3380CC4-5D6E-409C-BE32-E72D297353CC}">
                <c16:uniqueId val="{00000005-AEAF-4DD0-8082-8BD0BC390E4D}"/>
              </c:ext>
            </c:extLst>
          </c:dPt>
          <c:dPt>
            <c:idx val="3"/>
            <c:bubble3D val="0"/>
            <c:spPr>
              <a:solidFill>
                <a:srgbClr val="8590C4"/>
              </a:solidFill>
              <a:effectLst/>
            </c:spPr>
            <c:extLst>
              <c:ext xmlns:c16="http://schemas.microsoft.com/office/drawing/2014/chart" uri="{C3380CC4-5D6E-409C-BE32-E72D297353CC}">
                <c16:uniqueId val="{00000007-AEAF-4DD0-8082-8BD0BC390E4D}"/>
              </c:ext>
            </c:extLst>
          </c:dPt>
          <c:dPt>
            <c:idx val="4"/>
            <c:bubble3D val="0"/>
            <c:spPr>
              <a:solidFill>
                <a:srgbClr val="D4A017"/>
              </a:solidFill>
              <a:effectLst/>
            </c:spPr>
            <c:extLst>
              <c:ext xmlns:c16="http://schemas.microsoft.com/office/drawing/2014/chart" uri="{C3380CC4-5D6E-409C-BE32-E72D297353CC}">
                <c16:uniqueId val="{00000009-AEAF-4DD0-8082-8BD0BC390E4D}"/>
              </c:ext>
            </c:extLst>
          </c:dPt>
          <c:dLbls>
            <c:dLbl>
              <c:idx val="0"/>
              <c:layout>
                <c:manualLayout>
                  <c:x val="0.11284722222222222"/>
                  <c:y val="-8.442265795206974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EAF-4DD0-8082-8BD0BC390E4D}"/>
                </c:ext>
              </c:extLst>
            </c:dLbl>
            <c:dLbl>
              <c:idx val="1"/>
              <c:layout>
                <c:manualLayout>
                  <c:x val="0.11067708333333333"/>
                  <c:y val="4.08496732026142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EAF-4DD0-8082-8BD0BC390E4D}"/>
                </c:ext>
              </c:extLst>
            </c:dLbl>
            <c:dLbl>
              <c:idx val="2"/>
              <c:layout>
                <c:manualLayout>
                  <c:x val="-8.0295138888888895E-2"/>
                  <c:y val="0.1062091503267973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EAF-4DD0-8082-8BD0BC390E4D}"/>
                </c:ext>
              </c:extLst>
            </c:dLbl>
            <c:dLbl>
              <c:idx val="3"/>
              <c:layout>
                <c:manualLayout>
                  <c:x val="-0.13020833333333334"/>
                  <c:y val="-2.72331154684095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EAF-4DD0-8082-8BD0BC390E4D}"/>
                </c:ext>
              </c:extLst>
            </c:dLbl>
            <c:dLbl>
              <c:idx val="4"/>
              <c:layout>
                <c:manualLayout>
                  <c:x val="-0.13671875"/>
                  <c:y val="-9.53159041394335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EAF-4DD0-8082-8BD0BC390E4D}"/>
                </c:ext>
              </c:extLst>
            </c:dLbl>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Sheet1!$A$2:$A$6</c:f>
              <c:strCache>
                <c:ptCount val="5"/>
                <c:pt idx="0">
                  <c:v>Port Harcourt</c:v>
                </c:pt>
                <c:pt idx="1">
                  <c:v>Abuja Central</c:v>
                </c:pt>
                <c:pt idx="2">
                  <c:v>Ibadan</c:v>
                </c:pt>
                <c:pt idx="3">
                  <c:v>Lagos Island</c:v>
                </c:pt>
                <c:pt idx="4">
                  <c:v>Kano</c:v>
                </c:pt>
              </c:strCache>
            </c:strRef>
          </c:cat>
          <c:val>
            <c:numRef>
              <c:f>Sheet1!$B$2:$B$6</c:f>
              <c:numCache>
                <c:formatCode>General</c:formatCode>
                <c:ptCount val="5"/>
                <c:pt idx="0">
                  <c:v>22.9</c:v>
                </c:pt>
                <c:pt idx="1">
                  <c:v>20.399999999999999</c:v>
                </c:pt>
                <c:pt idx="2">
                  <c:v>20.3</c:v>
                </c:pt>
                <c:pt idx="3">
                  <c:v>19.2</c:v>
                </c:pt>
                <c:pt idx="4">
                  <c:v>17.2</c:v>
                </c:pt>
              </c:numCache>
            </c:numRef>
          </c:val>
          <c:extLst>
            <c:ext xmlns:c16="http://schemas.microsoft.com/office/drawing/2014/chart" uri="{C3380CC4-5D6E-409C-BE32-E72D297353CC}">
              <c16:uniqueId val="{0000000A-AEAF-4DD0-8082-8BD0BC390E4D}"/>
            </c:ext>
          </c:extLst>
        </c:ser>
        <c:dLbls>
          <c:showLegendKey val="0"/>
          <c:showVal val="1"/>
          <c:showCatName val="0"/>
          <c:showSerName val="0"/>
          <c:showPercent val="0"/>
          <c:showBubbleSize val="0"/>
          <c:showLeaderLines val="1"/>
        </c:dLbls>
        <c:firstSliceAng val="0"/>
        <c:holeSize val="55"/>
      </c:doughnutChart>
      <c:spPr>
        <a:noFill/>
        <a:ln>
          <a:noFill/>
        </a:ln>
        <a:effectLst/>
      </c:spPr>
    </c:plotArea>
    <c:legend>
      <c:legendPos val="b"/>
      <c:overlay val="0"/>
      <c:txPr>
        <a:bodyPr/>
        <a:lstStyle/>
        <a:p>
          <a:pPr>
            <a:defRPr sz="1100">
              <a:solidFill>
                <a:srgbClr val="333333"/>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Actual Sales (NGN M)</c:v>
                </c:pt>
              </c:strCache>
            </c:strRef>
          </c:tx>
          <c:spPr>
            <a:solidFill>
              <a:srgbClr val="1E2761"/>
            </a:solidFill>
            <a:effectLst/>
          </c:spPr>
          <c:invertIfNegative val="0"/>
          <c:cat>
            <c:strRef>
              <c:f>Sheet1!$A$2:$A$6</c:f>
              <c:strCache>
                <c:ptCount val="5"/>
                <c:pt idx="0">
                  <c:v>Electronics</c:v>
                </c:pt>
                <c:pt idx="1">
                  <c:v>Home Appliances</c:v>
                </c:pt>
                <c:pt idx="2">
                  <c:v>Clothing</c:v>
                </c:pt>
                <c:pt idx="3">
                  <c:v>Groceries</c:v>
                </c:pt>
                <c:pt idx="4">
                  <c:v>Cosmetics</c:v>
                </c:pt>
              </c:strCache>
            </c:strRef>
          </c:cat>
          <c:val>
            <c:numRef>
              <c:f>Sheet1!$B$2:$B$6</c:f>
              <c:numCache>
                <c:formatCode>General</c:formatCode>
                <c:ptCount val="5"/>
                <c:pt idx="0">
                  <c:v>2334.3608880000002</c:v>
                </c:pt>
                <c:pt idx="1">
                  <c:v>857.50497499999994</c:v>
                </c:pt>
                <c:pt idx="2">
                  <c:v>309.32378799999998</c:v>
                </c:pt>
                <c:pt idx="3">
                  <c:v>166.125001</c:v>
                </c:pt>
                <c:pt idx="4">
                  <c:v>94.144621000000001</c:v>
                </c:pt>
              </c:numCache>
            </c:numRef>
          </c:val>
          <c:extLst>
            <c:ext xmlns:c16="http://schemas.microsoft.com/office/drawing/2014/chart" uri="{C3380CC4-5D6E-409C-BE32-E72D297353CC}">
              <c16:uniqueId val="{00000000-6C3A-43E1-834B-1CABD8D80809}"/>
            </c:ext>
          </c:extLst>
        </c:ser>
        <c:ser>
          <c:idx val="1"/>
          <c:order val="1"/>
          <c:tx>
            <c:strRef>
              <c:f>Sheet1!$C$1</c:f>
              <c:strCache>
                <c:ptCount val="1"/>
                <c:pt idx="0">
                  <c:v>Target Sales (NGN M)</c:v>
                </c:pt>
              </c:strCache>
            </c:strRef>
          </c:tx>
          <c:spPr>
            <a:solidFill>
              <a:srgbClr val="C4CAE6"/>
            </a:solidFill>
            <a:effectLst/>
          </c:spPr>
          <c:invertIfNegative val="0"/>
          <c:cat>
            <c:strRef>
              <c:f>Sheet1!$A$2:$A$6</c:f>
              <c:strCache>
                <c:ptCount val="5"/>
                <c:pt idx="0">
                  <c:v>Electronics</c:v>
                </c:pt>
                <c:pt idx="1">
                  <c:v>Home Appliances</c:v>
                </c:pt>
                <c:pt idx="2">
                  <c:v>Clothing</c:v>
                </c:pt>
                <c:pt idx="3">
                  <c:v>Groceries</c:v>
                </c:pt>
                <c:pt idx="4">
                  <c:v>Cosmetics</c:v>
                </c:pt>
              </c:strCache>
            </c:strRef>
          </c:cat>
          <c:val>
            <c:numRef>
              <c:f>Sheet1!$C$2:$C$6</c:f>
              <c:numCache>
                <c:formatCode>General</c:formatCode>
                <c:ptCount val="5"/>
                <c:pt idx="0">
                  <c:v>1286.47615</c:v>
                </c:pt>
                <c:pt idx="1">
                  <c:v>641.50197200000002</c:v>
                </c:pt>
                <c:pt idx="2">
                  <c:v>548.14873799999998</c:v>
                </c:pt>
                <c:pt idx="3">
                  <c:v>741.06436900000006</c:v>
                </c:pt>
                <c:pt idx="4">
                  <c:v>394.67052699999999</c:v>
                </c:pt>
              </c:numCache>
            </c:numRef>
          </c:val>
          <c:extLst>
            <c:ext xmlns:c16="http://schemas.microsoft.com/office/drawing/2014/chart" uri="{C3380CC4-5D6E-409C-BE32-E72D297353CC}">
              <c16:uniqueId val="{00000001-6C3A-43E1-834B-1CABD8D8080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Sales (NGN Millions)</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7575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509760" y="-2011680"/>
            <a:ext cx="5486400" cy="5486400"/>
          </a:xfrm>
          <a:prstGeom prst="ellipse">
            <a:avLst/>
          </a:prstGeom>
          <a:solidFill>
            <a:srgbClr val="141B47">
              <a:alpha val="70000"/>
            </a:srgbClr>
          </a:solidFill>
          <a:ln/>
        </p:spPr>
      </p:sp>
      <p:sp>
        <p:nvSpPr>
          <p:cNvPr id="3" name="Shape 1"/>
          <p:cNvSpPr/>
          <p:nvPr/>
        </p:nvSpPr>
        <p:spPr>
          <a:xfrm>
            <a:off x="10789920" y="3840480"/>
            <a:ext cx="4114800" cy="4114800"/>
          </a:xfrm>
          <a:prstGeom prst="ellipse">
            <a:avLst/>
          </a:prstGeom>
          <a:solidFill>
            <a:srgbClr val="C00000">
              <a:alpha val="22000"/>
            </a:srgbClr>
          </a:solidFill>
          <a:ln/>
        </p:spPr>
      </p:sp>
      <p:sp>
        <p:nvSpPr>
          <p:cNvPr id="4" name="Text 2"/>
          <p:cNvSpPr/>
          <p:nvPr/>
        </p:nvSpPr>
        <p:spPr>
          <a:xfrm>
            <a:off x="822960" y="1417320"/>
            <a:ext cx="8229600" cy="365760"/>
          </a:xfrm>
          <a:prstGeom prst="rect">
            <a:avLst/>
          </a:prstGeom>
          <a:noFill/>
          <a:ln/>
        </p:spPr>
        <p:txBody>
          <a:bodyPr wrap="square" rtlCol="0" anchor="ctr"/>
          <a:lstStyle/>
          <a:p>
            <a:pPr marL="0" indent="0">
              <a:buNone/>
            </a:pPr>
            <a:r>
              <a:rPr lang="en-US" sz="1400" b="1" kern="0" spc="300" dirty="0">
                <a:solidFill>
                  <a:srgbClr val="9AA3C2"/>
                </a:solidFill>
                <a:latin typeface="Calibri" pitchFamily="34" charset="0"/>
                <a:ea typeface="Calibri" pitchFamily="34" charset="-122"/>
                <a:cs typeface="Calibri" pitchFamily="34" charset="-120"/>
              </a:rPr>
              <a:t>ZENITHMART RETAIL GROUP</a:t>
            </a:r>
            <a:endParaRPr lang="en-US" sz="1400" dirty="0"/>
          </a:p>
        </p:txBody>
      </p:sp>
      <p:sp>
        <p:nvSpPr>
          <p:cNvPr id="5" name="Text 3"/>
          <p:cNvSpPr/>
          <p:nvPr/>
        </p:nvSpPr>
        <p:spPr>
          <a:xfrm>
            <a:off x="777240" y="1874520"/>
            <a:ext cx="8778240" cy="2286000"/>
          </a:xfrm>
          <a:prstGeom prst="rect">
            <a:avLst/>
          </a:prstGeom>
          <a:noFill/>
          <a:ln/>
        </p:spPr>
        <p:txBody>
          <a:bodyPr wrap="square"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Branch Performance Analysis,</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Sales Trends &amp; Strategic</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Business Insights</a:t>
            </a:r>
            <a:endParaRPr lang="en-US" sz="4000" dirty="0"/>
          </a:p>
        </p:txBody>
      </p:sp>
      <p:sp>
        <p:nvSpPr>
          <p:cNvPr id="6" name="Text 4"/>
          <p:cNvSpPr/>
          <p:nvPr/>
        </p:nvSpPr>
        <p:spPr>
          <a:xfrm>
            <a:off x="822960" y="4251960"/>
            <a:ext cx="7863840" cy="594360"/>
          </a:xfrm>
          <a:prstGeom prst="rect">
            <a:avLst/>
          </a:prstGeom>
          <a:noFill/>
          <a:ln/>
        </p:spPr>
        <p:txBody>
          <a:bodyPr wrap="square" rtlCol="0" anchor="ctr"/>
          <a:lstStyle/>
          <a:p>
            <a:pPr marL="0" indent="0">
              <a:buNone/>
            </a:pPr>
            <a:r>
              <a:rPr lang="en-US" sz="1500" i="1" dirty="0">
                <a:solidFill>
                  <a:srgbClr val="C7CDE8"/>
                </a:solidFill>
                <a:latin typeface="Calibri" pitchFamily="34" charset="0"/>
                <a:ea typeface="Calibri" pitchFamily="34" charset="-122"/>
                <a:cs typeface="Calibri" pitchFamily="34" charset="-120"/>
              </a:rPr>
              <a:t>A data-driven review of FY2023–FY2024 performance across all five branches, prepared for Headquarters and the Board Review Meeting</a:t>
            </a:r>
            <a:endParaRPr lang="en-US" sz="1500" dirty="0"/>
          </a:p>
        </p:txBody>
      </p:sp>
      <p:sp>
        <p:nvSpPr>
          <p:cNvPr id="7" name="Shape 5"/>
          <p:cNvSpPr/>
          <p:nvPr/>
        </p:nvSpPr>
        <p:spPr>
          <a:xfrm>
            <a:off x="822960" y="5029200"/>
            <a:ext cx="2011680" cy="0"/>
          </a:xfrm>
          <a:prstGeom prst="line">
            <a:avLst/>
          </a:prstGeom>
          <a:noFill/>
          <a:ln w="31750">
            <a:solidFill>
              <a:srgbClr val="C00000"/>
            </a:solidFill>
            <a:prstDash val="solid"/>
          </a:ln>
        </p:spPr>
      </p:sp>
      <p:sp>
        <p:nvSpPr>
          <p:cNvPr id="8" name="Text 6"/>
          <p:cNvSpPr/>
          <p:nvPr/>
        </p:nvSpPr>
        <p:spPr>
          <a:xfrm>
            <a:off x="822960" y="5257800"/>
            <a:ext cx="822960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Prepared by: </a:t>
            </a:r>
            <a:r>
              <a:rPr lang="en-US" sz="1250" b="1" dirty="0">
                <a:solidFill>
                  <a:srgbClr val="C7CDE8"/>
                </a:solidFill>
                <a:latin typeface="Calibri" pitchFamily="34" charset="0"/>
                <a:ea typeface="Calibri" pitchFamily="34" charset="-122"/>
                <a:cs typeface="Calibri" pitchFamily="34" charset="-120"/>
              </a:rPr>
              <a:t> TEAM ELITE</a:t>
            </a:r>
            <a:endParaRPr lang="en-US" sz="1250" dirty="0"/>
          </a:p>
        </p:txBody>
      </p:sp>
      <p:sp>
        <p:nvSpPr>
          <p:cNvPr id="9" name="Text 7"/>
          <p:cNvSpPr/>
          <p:nvPr/>
        </p:nvSpPr>
        <p:spPr>
          <a:xfrm>
            <a:off x="822960" y="5596128"/>
            <a:ext cx="8229600" cy="292608"/>
          </a:xfrm>
          <a:prstGeom prst="rect">
            <a:avLst/>
          </a:prstGeom>
          <a:noFill/>
          <a:ln/>
        </p:spPr>
        <p:txBody>
          <a:bodyPr wrap="square" rtlCol="0" anchor="ctr"/>
          <a:lstStyle/>
          <a:p>
            <a:pPr marL="0" indent="0">
              <a:buNone/>
            </a:pPr>
            <a:r>
              <a:rPr lang="en-US" sz="1150" dirty="0">
                <a:solidFill>
                  <a:srgbClr val="9AA3C2"/>
                </a:solidFill>
                <a:latin typeface="Calibri" pitchFamily="34" charset="0"/>
                <a:ea typeface="Calibri" pitchFamily="34" charset="-122"/>
                <a:cs typeface="Calibri" pitchFamily="34" charset="-120"/>
              </a:rPr>
              <a:t>Data Period: January 2023 – December 2024  </a:t>
            </a:r>
          </a:p>
          <a:p>
            <a:pPr marL="0" indent="0">
              <a:buNone/>
            </a:pPr>
            <a:r>
              <a:rPr lang="en-US" sz="1150" dirty="0">
                <a:solidFill>
                  <a:srgbClr val="9AA3C2"/>
                </a:solidFill>
                <a:latin typeface="Calibri" pitchFamily="34" charset="0"/>
                <a:cs typeface="Calibri" pitchFamily="34" charset="-120"/>
              </a:rPr>
              <a:t>Teammates: Olokooba Fuwad    Ogunleye Mariam   Adepoju Emmanuel</a:t>
            </a:r>
            <a:endParaRPr lang="en-US" sz="1150" dirty="0"/>
          </a:p>
        </p:txBody>
      </p:sp>
      <p:sp>
        <p:nvSpPr>
          <p:cNvPr id="10" name="Shape 8"/>
          <p:cNvSpPr/>
          <p:nvPr/>
        </p:nvSpPr>
        <p:spPr>
          <a:xfrm>
            <a:off x="8732520" y="5120640"/>
            <a:ext cx="2743200" cy="1143000"/>
          </a:xfrm>
          <a:prstGeom prst="roundRect">
            <a:avLst>
              <a:gd name="adj" fmla="val 6400"/>
            </a:avLst>
          </a:prstGeom>
          <a:solidFill>
            <a:srgbClr val="FFFFFF"/>
          </a:solidFill>
          <a:ln/>
          <a:effectLst>
            <a:outerShdw blurRad="101600" dist="38100" dir="5400000" algn="bl" rotWithShape="0">
              <a:srgbClr val="000000">
                <a:alpha val="25000"/>
              </a:srgbClr>
            </a:outerShdw>
          </a:effectLst>
        </p:spPr>
      </p:sp>
      <p:sp>
        <p:nvSpPr>
          <p:cNvPr id="11" name="Text 9"/>
          <p:cNvSpPr/>
          <p:nvPr/>
        </p:nvSpPr>
        <p:spPr>
          <a:xfrm>
            <a:off x="8732520" y="5193792"/>
            <a:ext cx="2743200" cy="502920"/>
          </a:xfrm>
          <a:prstGeom prst="rect">
            <a:avLst/>
          </a:prstGeom>
          <a:noFill/>
          <a:ln/>
        </p:spPr>
        <p:txBody>
          <a:bodyPr wrap="square" rtlCol="0" anchor="ctr"/>
          <a:lstStyle/>
          <a:p>
            <a:pPr marL="0" indent="0" algn="ctr">
              <a:buNone/>
            </a:pPr>
            <a:r>
              <a:rPr lang="en-US" sz="2400" b="1" dirty="0">
                <a:solidFill>
                  <a:srgbClr val="1E2761"/>
                </a:solidFill>
                <a:latin typeface="Calibri" pitchFamily="34" charset="0"/>
                <a:ea typeface="Calibri" pitchFamily="34" charset="-122"/>
                <a:cs typeface="Calibri" pitchFamily="34" charset="-120"/>
              </a:rPr>
              <a:t>NGN 3.76B</a:t>
            </a:r>
            <a:endParaRPr lang="en-US" sz="2400" dirty="0"/>
          </a:p>
        </p:txBody>
      </p:sp>
      <p:sp>
        <p:nvSpPr>
          <p:cNvPr id="12" name="Text 10"/>
          <p:cNvSpPr/>
          <p:nvPr/>
        </p:nvSpPr>
        <p:spPr>
          <a:xfrm>
            <a:off x="8732520" y="5715000"/>
            <a:ext cx="2743200" cy="411480"/>
          </a:xfrm>
          <a:prstGeom prst="rect">
            <a:avLst/>
          </a:prstGeom>
          <a:noFill/>
          <a:ln/>
        </p:spPr>
        <p:txBody>
          <a:bodyPr wrap="square"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Total Group Sales, FY23–24</a:t>
            </a:r>
            <a:endParaRPr lang="en-US" sz="950" dirty="0"/>
          </a:p>
        </p:txBody>
      </p:sp>
      <p:cxnSp>
        <p:nvCxnSpPr>
          <p:cNvPr id="14" name="Straight Connector 13">
            <a:extLst>
              <a:ext uri="{FF2B5EF4-FFF2-40B4-BE49-F238E27FC236}">
                <a16:creationId xmlns:a16="http://schemas.microsoft.com/office/drawing/2014/main" id="{F92EBA23-1D9F-F143-ABDA-B4C7FEE57C66}"/>
              </a:ext>
            </a:extLst>
          </p:cNvPr>
          <p:cNvCxnSpPr/>
          <p:nvPr/>
        </p:nvCxnSpPr>
        <p:spPr>
          <a:xfrm>
            <a:off x="2740511" y="5715000"/>
            <a:ext cx="0" cy="1737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7D535C8-3086-D600-1E75-40B10D78D018}"/>
              </a:ext>
            </a:extLst>
          </p:cNvPr>
          <p:cNvCxnSpPr/>
          <p:nvPr/>
        </p:nvCxnSpPr>
        <p:spPr>
          <a:xfrm>
            <a:off x="3910400" y="5715000"/>
            <a:ext cx="0" cy="173736"/>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COMPANY BACKGROUND</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ZenithMart at a Glance</a:t>
            </a:r>
            <a:endParaRPr lang="en-US" sz="2800" dirty="0"/>
          </a:p>
        </p:txBody>
      </p:sp>
      <p:sp>
        <p:nvSpPr>
          <p:cNvPr id="4" name="Text 2"/>
          <p:cNvSpPr/>
          <p:nvPr/>
        </p:nvSpPr>
        <p:spPr>
          <a:xfrm>
            <a:off x="548640" y="1417320"/>
            <a:ext cx="6035040" cy="1554480"/>
          </a:xfrm>
          <a:prstGeom prst="rect">
            <a:avLst/>
          </a:prstGeom>
          <a:noFill/>
          <a:ln/>
        </p:spPr>
        <p:txBody>
          <a:bodyPr wrap="square" rtlCol="0" anchor="ctr"/>
          <a:lstStyle/>
          <a:p>
            <a:pPr marL="0" indent="0">
              <a:lnSpc>
                <a:spcPct val="125000"/>
              </a:lnSpc>
              <a:buNone/>
            </a:pPr>
            <a:r>
              <a:rPr lang="en-US" sz="1350" b="1" dirty="0">
                <a:solidFill>
                  <a:srgbClr val="1E2761"/>
                </a:solidFill>
                <a:latin typeface="Calibri" pitchFamily="34" charset="0"/>
                <a:ea typeface="Calibri" pitchFamily="34" charset="-122"/>
                <a:cs typeface="Calibri" pitchFamily="34" charset="-120"/>
              </a:rPr>
              <a:t>ZenithMart Retail Group </a:t>
            </a:r>
            <a:r>
              <a:rPr lang="en-US" sz="1350" dirty="0">
                <a:solidFill>
                  <a:srgbClr val="333333"/>
                </a:solidFill>
                <a:latin typeface="Calibri" pitchFamily="34" charset="0"/>
                <a:ea typeface="Calibri" pitchFamily="34" charset="-122"/>
                <a:cs typeface="Calibri" pitchFamily="34" charset="-120"/>
              </a:rPr>
              <a:t>is one of Nigeria's fastest-growing multi-branch retail chains, founded in 2018 and headquartered in Lagos. The company operates five branches across key Nigerian cities, trading in Electronics, Groceries, Clothing, Cosmetics, and Home Appliances.</a:t>
            </a:r>
            <a:endParaRPr lang="en-US" sz="1350" dirty="0"/>
          </a:p>
        </p:txBody>
      </p:sp>
      <p:sp>
        <p:nvSpPr>
          <p:cNvPr id="5" name="Text 3"/>
          <p:cNvSpPr/>
          <p:nvPr/>
        </p:nvSpPr>
        <p:spPr>
          <a:xfrm>
            <a:off x="548640" y="3063240"/>
            <a:ext cx="6035040" cy="1463040"/>
          </a:xfrm>
          <a:prstGeom prst="rect">
            <a:avLst/>
          </a:prstGeom>
          <a:noFill/>
          <a:ln/>
        </p:spPr>
        <p:txBody>
          <a:bodyPr wrap="square" rtlCol="0" anchor="ctr"/>
          <a:lstStyle/>
          <a:p>
            <a:pPr marL="0" indent="0">
              <a:lnSpc>
                <a:spcPct val="125000"/>
              </a:lnSpc>
              <a:buNone/>
            </a:pPr>
            <a:r>
              <a:rPr lang="en-US" sz="1350" dirty="0">
                <a:solidFill>
                  <a:srgbClr val="333333"/>
                </a:solidFill>
                <a:latin typeface="Calibri" pitchFamily="34" charset="0"/>
                <a:ea typeface="Calibri" pitchFamily="34" charset="-122"/>
                <a:cs typeface="Calibri" pitchFamily="34" charset="-120"/>
              </a:rPr>
              <a:t>With over 200 staff nationwide, leadership has staked its growth strategy on </a:t>
            </a:r>
            <a:r>
              <a:rPr lang="en-US" sz="1350" b="1" dirty="0">
                <a:solidFill>
                  <a:srgbClr val="1E2761"/>
                </a:solidFill>
                <a:latin typeface="Calibri" pitchFamily="34" charset="0"/>
                <a:ea typeface="Calibri" pitchFamily="34" charset="-122"/>
                <a:cs typeface="Calibri" pitchFamily="34" charset="-120"/>
              </a:rPr>
              <a:t>data-driven expansion and operational efficiency.</a:t>
            </a:r>
            <a:r>
              <a:rPr lang="en-US" sz="1350" dirty="0">
                <a:solidFill>
                  <a:srgbClr val="333333"/>
                </a:solidFill>
                <a:latin typeface="Calibri" pitchFamily="34" charset="0"/>
                <a:ea typeface="Calibri" pitchFamily="34" charset="-122"/>
                <a:cs typeface="Calibri" pitchFamily="34" charset="-120"/>
              </a:rPr>
              <a:t> Every branch records transactions centrally — but raw transactional data only creates value once it is cleaned, compared, and turned into a decision.</a:t>
            </a:r>
            <a:endParaRPr lang="en-US" sz="1350" dirty="0"/>
          </a:p>
        </p:txBody>
      </p:sp>
      <p:sp>
        <p:nvSpPr>
          <p:cNvPr id="6" name="Shape 4"/>
          <p:cNvSpPr/>
          <p:nvPr/>
        </p:nvSpPr>
        <p:spPr>
          <a:xfrm>
            <a:off x="548640" y="4709160"/>
            <a:ext cx="6035040" cy="1417320"/>
          </a:xfrm>
          <a:prstGeom prst="roundRect">
            <a:avLst>
              <a:gd name="adj" fmla="val 3871"/>
            </a:avLst>
          </a:prstGeom>
          <a:solidFill>
            <a:srgbClr val="E8EBF7"/>
          </a:solidFill>
          <a:ln/>
        </p:spPr>
      </p:sp>
      <p:pic>
        <p:nvPicPr>
          <p:cNvPr id="7" name="Image 0" descr="/home/claude/build/icons/bulb_navy.png"/>
          <p:cNvPicPr>
            <a:picLocks noChangeAspect="1"/>
          </p:cNvPicPr>
          <p:nvPr/>
        </p:nvPicPr>
        <p:blipFill>
          <a:blip r:embed="rId3"/>
          <a:stretch>
            <a:fillRect/>
          </a:stretch>
        </p:blipFill>
        <p:spPr>
          <a:xfrm>
            <a:off x="777240" y="4937760"/>
            <a:ext cx="457200" cy="457200"/>
          </a:xfrm>
          <a:prstGeom prst="rect">
            <a:avLst/>
          </a:prstGeom>
        </p:spPr>
      </p:pic>
      <p:sp>
        <p:nvSpPr>
          <p:cNvPr id="8" name="Text 5"/>
          <p:cNvSpPr/>
          <p:nvPr/>
        </p:nvSpPr>
        <p:spPr>
          <a:xfrm>
            <a:off x="1371600" y="4864608"/>
            <a:ext cx="5074920" cy="1143000"/>
          </a:xfrm>
          <a:prstGeom prst="rect">
            <a:avLst/>
          </a:prstGeom>
          <a:noFill/>
          <a:ln/>
        </p:spPr>
        <p:txBody>
          <a:bodyPr wrap="square" rtlCol="0" anchor="ctr"/>
          <a:lstStyle/>
          <a:p>
            <a:pPr marL="0" indent="0">
              <a:lnSpc>
                <a:spcPct val="120000"/>
              </a:lnSpc>
              <a:buNone/>
            </a:pPr>
            <a:r>
              <a:rPr lang="en-US" sz="1200" b="1" dirty="0">
                <a:solidFill>
                  <a:srgbClr val="1E2761"/>
                </a:solidFill>
                <a:latin typeface="Calibri" pitchFamily="34" charset="0"/>
                <a:ea typeface="Calibri" pitchFamily="34" charset="-122"/>
                <a:cs typeface="Calibri" pitchFamily="34" charset="-120"/>
              </a:rPr>
              <a:t>Why branch-level monitoring matters: </a:t>
            </a:r>
            <a:r>
              <a:rPr lang="en-US" sz="1200" dirty="0">
                <a:solidFill>
                  <a:srgbClr val="333333"/>
                </a:solidFill>
                <a:latin typeface="Calibri" pitchFamily="34" charset="0"/>
                <a:ea typeface="Calibri" pitchFamily="34" charset="-122"/>
                <a:cs typeface="Calibri" pitchFamily="34" charset="-120"/>
              </a:rPr>
              <a:t>Branches differ in scale, demand mix, and execution discipline. Without comparable, clean KPIs, HQ cannot tell whether a branch is genuinely under-performing or simply under-resourced — and cannot allocate capital with confidence.</a:t>
            </a:r>
            <a:endParaRPr lang="en-US" sz="1200" dirty="0"/>
          </a:p>
        </p:txBody>
      </p:sp>
      <p:sp>
        <p:nvSpPr>
          <p:cNvPr id="9" name="Shape 6"/>
          <p:cNvSpPr/>
          <p:nvPr/>
        </p:nvSpPr>
        <p:spPr>
          <a:xfrm>
            <a:off x="6995160" y="1417320"/>
            <a:ext cx="2240280" cy="1325880"/>
          </a:xfrm>
          <a:prstGeom prst="roundRect">
            <a:avLst>
              <a:gd name="adj" fmla="val 4828"/>
            </a:avLst>
          </a:prstGeom>
          <a:solidFill>
            <a:srgbClr val="F4F4F6"/>
          </a:solidFill>
          <a:ln/>
          <a:effectLst>
            <a:outerShdw blurRad="76200" dist="25400" dir="5400000" algn="bl" rotWithShape="0">
              <a:srgbClr val="000000">
                <a:alpha val="8000"/>
              </a:srgbClr>
            </a:outerShdw>
          </a:effectLst>
        </p:spPr>
      </p:sp>
      <p:pic>
        <p:nvPicPr>
          <p:cNvPr id="10" name="Image 1" descr="/home/claude/build/icons/industry_navy.png"/>
          <p:cNvPicPr>
            <a:picLocks noChangeAspect="1"/>
          </p:cNvPicPr>
          <p:nvPr/>
        </p:nvPicPr>
        <p:blipFill>
          <a:blip r:embed="rId4"/>
          <a:stretch>
            <a:fillRect/>
          </a:stretch>
        </p:blipFill>
        <p:spPr>
          <a:xfrm>
            <a:off x="7196328" y="1600200"/>
            <a:ext cx="365760" cy="365760"/>
          </a:xfrm>
          <a:prstGeom prst="rect">
            <a:avLst/>
          </a:prstGeom>
        </p:spPr>
      </p:pic>
      <p:sp>
        <p:nvSpPr>
          <p:cNvPr id="11" name="Text 7"/>
          <p:cNvSpPr/>
          <p:nvPr/>
        </p:nvSpPr>
        <p:spPr>
          <a:xfrm>
            <a:off x="7196328" y="2075688"/>
            <a:ext cx="1874520" cy="228600"/>
          </a:xfrm>
          <a:prstGeom prst="rect">
            <a:avLst/>
          </a:prstGeom>
          <a:noFill/>
          <a:ln/>
        </p:spPr>
        <p:txBody>
          <a:bodyPr wrap="square" rtlCol="0" anchor="ctr"/>
          <a:lstStyle/>
          <a:p>
            <a:pPr marL="0" indent="0">
              <a:buNone/>
            </a:pPr>
            <a:r>
              <a:rPr lang="en-US" sz="950" b="1" kern="0" spc="100" dirty="0">
                <a:solidFill>
                  <a:srgbClr val="595959"/>
                </a:solidFill>
                <a:latin typeface="Calibri" pitchFamily="34" charset="0"/>
                <a:ea typeface="Calibri" pitchFamily="34" charset="-122"/>
                <a:cs typeface="Calibri" pitchFamily="34" charset="-120"/>
              </a:rPr>
              <a:t>FOUNDED</a:t>
            </a:r>
            <a:endParaRPr lang="en-US" sz="950" dirty="0"/>
          </a:p>
        </p:txBody>
      </p:sp>
      <p:sp>
        <p:nvSpPr>
          <p:cNvPr id="12" name="Text 8"/>
          <p:cNvSpPr/>
          <p:nvPr/>
        </p:nvSpPr>
        <p:spPr>
          <a:xfrm>
            <a:off x="7196328" y="2286000"/>
            <a:ext cx="1874520" cy="36576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2018, Lagos</a:t>
            </a:r>
            <a:endParaRPr lang="en-US" sz="1550" dirty="0"/>
          </a:p>
        </p:txBody>
      </p:sp>
      <p:sp>
        <p:nvSpPr>
          <p:cNvPr id="13" name="Shape 9"/>
          <p:cNvSpPr/>
          <p:nvPr/>
        </p:nvSpPr>
        <p:spPr>
          <a:xfrm>
            <a:off x="9464040" y="1417320"/>
            <a:ext cx="2240280" cy="1325880"/>
          </a:xfrm>
          <a:prstGeom prst="roundRect">
            <a:avLst>
              <a:gd name="adj" fmla="val 4828"/>
            </a:avLst>
          </a:prstGeom>
          <a:solidFill>
            <a:srgbClr val="F4F4F6"/>
          </a:solidFill>
          <a:ln/>
          <a:effectLst>
            <a:outerShdw blurRad="76200" dist="25400" dir="5400000" algn="bl" rotWithShape="0">
              <a:srgbClr val="000000">
                <a:alpha val="8000"/>
              </a:srgbClr>
            </a:outerShdw>
          </a:effectLst>
        </p:spPr>
      </p:sp>
      <p:pic>
        <p:nvPicPr>
          <p:cNvPr id="14" name="Image 2" descr="/home/claude/build/icons/store_navy.png"/>
          <p:cNvPicPr>
            <a:picLocks noChangeAspect="1"/>
          </p:cNvPicPr>
          <p:nvPr/>
        </p:nvPicPr>
        <p:blipFill>
          <a:blip r:embed="rId5"/>
          <a:stretch>
            <a:fillRect/>
          </a:stretch>
        </p:blipFill>
        <p:spPr>
          <a:xfrm>
            <a:off x="9665208" y="1600200"/>
            <a:ext cx="365760" cy="365760"/>
          </a:xfrm>
          <a:prstGeom prst="rect">
            <a:avLst/>
          </a:prstGeom>
        </p:spPr>
      </p:pic>
      <p:sp>
        <p:nvSpPr>
          <p:cNvPr id="15" name="Text 10"/>
          <p:cNvSpPr/>
          <p:nvPr/>
        </p:nvSpPr>
        <p:spPr>
          <a:xfrm>
            <a:off x="9665208" y="2075688"/>
            <a:ext cx="1874520" cy="228600"/>
          </a:xfrm>
          <a:prstGeom prst="rect">
            <a:avLst/>
          </a:prstGeom>
          <a:noFill/>
          <a:ln/>
        </p:spPr>
        <p:txBody>
          <a:bodyPr wrap="square" rtlCol="0" anchor="ctr"/>
          <a:lstStyle/>
          <a:p>
            <a:pPr marL="0" indent="0">
              <a:buNone/>
            </a:pPr>
            <a:r>
              <a:rPr lang="en-US" sz="950" b="1" kern="0" spc="100" dirty="0">
                <a:solidFill>
                  <a:srgbClr val="595959"/>
                </a:solidFill>
                <a:latin typeface="Calibri" pitchFamily="34" charset="0"/>
                <a:ea typeface="Calibri" pitchFamily="34" charset="-122"/>
                <a:cs typeface="Calibri" pitchFamily="34" charset="-120"/>
              </a:rPr>
              <a:t>BRANCHES</a:t>
            </a:r>
            <a:endParaRPr lang="en-US" sz="950" dirty="0"/>
          </a:p>
        </p:txBody>
      </p:sp>
      <p:sp>
        <p:nvSpPr>
          <p:cNvPr id="16" name="Text 11"/>
          <p:cNvSpPr/>
          <p:nvPr/>
        </p:nvSpPr>
        <p:spPr>
          <a:xfrm>
            <a:off x="9665208" y="2286000"/>
            <a:ext cx="1874520" cy="36576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5 Active</a:t>
            </a:r>
            <a:endParaRPr lang="en-US" sz="1550" dirty="0"/>
          </a:p>
        </p:txBody>
      </p:sp>
      <p:sp>
        <p:nvSpPr>
          <p:cNvPr id="17" name="Shape 12"/>
          <p:cNvSpPr/>
          <p:nvPr/>
        </p:nvSpPr>
        <p:spPr>
          <a:xfrm>
            <a:off x="6995160" y="2971800"/>
            <a:ext cx="2240280" cy="1325880"/>
          </a:xfrm>
          <a:prstGeom prst="roundRect">
            <a:avLst>
              <a:gd name="adj" fmla="val 4828"/>
            </a:avLst>
          </a:prstGeom>
          <a:solidFill>
            <a:srgbClr val="F4F4F6"/>
          </a:solidFill>
          <a:ln/>
          <a:effectLst>
            <a:outerShdw blurRad="76200" dist="25400" dir="5400000" algn="bl" rotWithShape="0">
              <a:srgbClr val="000000">
                <a:alpha val="8000"/>
              </a:srgbClr>
            </a:outerShdw>
          </a:effectLst>
        </p:spPr>
      </p:sp>
      <p:pic>
        <p:nvPicPr>
          <p:cNvPr id="18" name="Image 3" descr="/home/claude/build/icons/box_navy.png"/>
          <p:cNvPicPr>
            <a:picLocks noChangeAspect="1"/>
          </p:cNvPicPr>
          <p:nvPr/>
        </p:nvPicPr>
        <p:blipFill>
          <a:blip r:embed="rId6"/>
          <a:stretch>
            <a:fillRect/>
          </a:stretch>
        </p:blipFill>
        <p:spPr>
          <a:xfrm>
            <a:off x="7196328" y="3154680"/>
            <a:ext cx="365760" cy="365760"/>
          </a:xfrm>
          <a:prstGeom prst="rect">
            <a:avLst/>
          </a:prstGeom>
        </p:spPr>
      </p:pic>
      <p:sp>
        <p:nvSpPr>
          <p:cNvPr id="19" name="Text 13"/>
          <p:cNvSpPr/>
          <p:nvPr/>
        </p:nvSpPr>
        <p:spPr>
          <a:xfrm>
            <a:off x="7196328" y="3630168"/>
            <a:ext cx="1874520" cy="228600"/>
          </a:xfrm>
          <a:prstGeom prst="rect">
            <a:avLst/>
          </a:prstGeom>
          <a:noFill/>
          <a:ln/>
        </p:spPr>
        <p:txBody>
          <a:bodyPr wrap="square" rtlCol="0" anchor="ctr"/>
          <a:lstStyle/>
          <a:p>
            <a:pPr marL="0" indent="0">
              <a:buNone/>
            </a:pPr>
            <a:r>
              <a:rPr lang="en-US" sz="950" b="1" kern="0" spc="100" dirty="0">
                <a:solidFill>
                  <a:srgbClr val="595959"/>
                </a:solidFill>
                <a:latin typeface="Calibri" pitchFamily="34" charset="0"/>
                <a:ea typeface="Calibri" pitchFamily="34" charset="-122"/>
                <a:cs typeface="Calibri" pitchFamily="34" charset="-120"/>
              </a:rPr>
              <a:t>PRODUCT LINES</a:t>
            </a:r>
            <a:endParaRPr lang="en-US" sz="950" dirty="0"/>
          </a:p>
        </p:txBody>
      </p:sp>
      <p:sp>
        <p:nvSpPr>
          <p:cNvPr id="20" name="Text 14"/>
          <p:cNvSpPr/>
          <p:nvPr/>
        </p:nvSpPr>
        <p:spPr>
          <a:xfrm>
            <a:off x="7196328" y="3840480"/>
            <a:ext cx="1874520" cy="36576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5 Core Categories</a:t>
            </a:r>
            <a:endParaRPr lang="en-US" sz="1550" dirty="0"/>
          </a:p>
        </p:txBody>
      </p:sp>
      <p:sp>
        <p:nvSpPr>
          <p:cNvPr id="21" name="Shape 15"/>
          <p:cNvSpPr/>
          <p:nvPr/>
        </p:nvSpPr>
        <p:spPr>
          <a:xfrm>
            <a:off x="9464040" y="2971800"/>
            <a:ext cx="2240280" cy="1325880"/>
          </a:xfrm>
          <a:prstGeom prst="roundRect">
            <a:avLst>
              <a:gd name="adj" fmla="val 4828"/>
            </a:avLst>
          </a:prstGeom>
          <a:solidFill>
            <a:srgbClr val="F4F4F6"/>
          </a:solidFill>
          <a:ln/>
          <a:effectLst>
            <a:outerShdw blurRad="76200" dist="25400" dir="5400000" algn="bl" rotWithShape="0">
              <a:srgbClr val="000000">
                <a:alpha val="8000"/>
              </a:srgbClr>
            </a:outerShdw>
          </a:effectLst>
        </p:spPr>
      </p:sp>
      <p:pic>
        <p:nvPicPr>
          <p:cNvPr id="22" name="Image 4" descr="/home/claude/build/icons/users_navy.png"/>
          <p:cNvPicPr>
            <a:picLocks noChangeAspect="1"/>
          </p:cNvPicPr>
          <p:nvPr/>
        </p:nvPicPr>
        <p:blipFill>
          <a:blip r:embed="rId7"/>
          <a:stretch>
            <a:fillRect/>
          </a:stretch>
        </p:blipFill>
        <p:spPr>
          <a:xfrm>
            <a:off x="9665208" y="3154680"/>
            <a:ext cx="365760" cy="365760"/>
          </a:xfrm>
          <a:prstGeom prst="rect">
            <a:avLst/>
          </a:prstGeom>
        </p:spPr>
      </p:pic>
      <p:sp>
        <p:nvSpPr>
          <p:cNvPr id="23" name="Text 16"/>
          <p:cNvSpPr/>
          <p:nvPr/>
        </p:nvSpPr>
        <p:spPr>
          <a:xfrm>
            <a:off x="9665208" y="3630168"/>
            <a:ext cx="1874520" cy="228600"/>
          </a:xfrm>
          <a:prstGeom prst="rect">
            <a:avLst/>
          </a:prstGeom>
          <a:noFill/>
          <a:ln/>
        </p:spPr>
        <p:txBody>
          <a:bodyPr wrap="square" rtlCol="0" anchor="ctr"/>
          <a:lstStyle/>
          <a:p>
            <a:pPr marL="0" indent="0">
              <a:buNone/>
            </a:pPr>
            <a:r>
              <a:rPr lang="en-US" sz="950" b="1" kern="0" spc="100" dirty="0">
                <a:solidFill>
                  <a:srgbClr val="595959"/>
                </a:solidFill>
                <a:latin typeface="Calibri" pitchFamily="34" charset="0"/>
                <a:ea typeface="Calibri" pitchFamily="34" charset="-122"/>
                <a:cs typeface="Calibri" pitchFamily="34" charset="-120"/>
              </a:rPr>
              <a:t>WORKFORCE</a:t>
            </a:r>
            <a:endParaRPr lang="en-US" sz="950" dirty="0"/>
          </a:p>
        </p:txBody>
      </p:sp>
      <p:sp>
        <p:nvSpPr>
          <p:cNvPr id="24" name="Text 17"/>
          <p:cNvSpPr/>
          <p:nvPr/>
        </p:nvSpPr>
        <p:spPr>
          <a:xfrm>
            <a:off x="9665208" y="3840480"/>
            <a:ext cx="1874520" cy="36576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200+ Staff</a:t>
            </a:r>
            <a:endParaRPr lang="en-US" sz="1550" dirty="0"/>
          </a:p>
        </p:txBody>
      </p:sp>
      <p:sp>
        <p:nvSpPr>
          <p:cNvPr id="25" name="Shape 18"/>
          <p:cNvSpPr/>
          <p:nvPr/>
        </p:nvSpPr>
        <p:spPr>
          <a:xfrm>
            <a:off x="6995160" y="4526280"/>
            <a:ext cx="4709160" cy="914400"/>
          </a:xfrm>
          <a:prstGeom prst="roundRect">
            <a:avLst>
              <a:gd name="adj" fmla="val 7000"/>
            </a:avLst>
          </a:prstGeom>
          <a:solidFill>
            <a:srgbClr val="1E2761"/>
          </a:solidFill>
          <a:ln/>
        </p:spPr>
      </p:sp>
      <p:pic>
        <p:nvPicPr>
          <p:cNvPr id="26" name="Image 5" descr="/home/claude/build/icons/calendar_white.png"/>
          <p:cNvPicPr>
            <a:picLocks noChangeAspect="1"/>
          </p:cNvPicPr>
          <p:nvPr/>
        </p:nvPicPr>
        <p:blipFill>
          <a:blip r:embed="rId8"/>
          <a:stretch>
            <a:fillRect/>
          </a:stretch>
        </p:blipFill>
        <p:spPr>
          <a:xfrm>
            <a:off x="7223760" y="4773168"/>
            <a:ext cx="411480" cy="411480"/>
          </a:xfrm>
          <a:prstGeom prst="rect">
            <a:avLst/>
          </a:prstGeom>
        </p:spPr>
      </p:pic>
      <p:sp>
        <p:nvSpPr>
          <p:cNvPr id="27" name="Text 19"/>
          <p:cNvSpPr/>
          <p:nvPr/>
        </p:nvSpPr>
        <p:spPr>
          <a:xfrm>
            <a:off x="7772400" y="4526280"/>
            <a:ext cx="3566160" cy="9144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Period: January 2023 – December 2024 (24 months)</a:t>
            </a:r>
            <a:endParaRPr lang="en-US" sz="1300" dirty="0"/>
          </a:p>
        </p:txBody>
      </p:sp>
      <p:sp>
        <p:nvSpPr>
          <p:cNvPr id="28" name="Text 20"/>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29" name="Text 21"/>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Challenge Facing Headquarters</a:t>
            </a:r>
            <a:endParaRPr lang="en-US" sz="2800" dirty="0"/>
          </a:p>
        </p:txBody>
      </p:sp>
      <p:sp>
        <p:nvSpPr>
          <p:cNvPr id="4" name="Shape 2"/>
          <p:cNvSpPr/>
          <p:nvPr/>
        </p:nvSpPr>
        <p:spPr>
          <a:xfrm>
            <a:off x="548640" y="1417320"/>
            <a:ext cx="11064240" cy="960120"/>
          </a:xfrm>
          <a:prstGeom prst="roundRect">
            <a:avLst>
              <a:gd name="adj" fmla="val 5714"/>
            </a:avLst>
          </a:prstGeom>
          <a:solidFill>
            <a:srgbClr val="E8EBF7"/>
          </a:solidFill>
          <a:ln/>
        </p:spPr>
      </p:sp>
      <p:pic>
        <p:nvPicPr>
          <p:cNvPr id="5" name="Image 0" descr="/home/claude/build/icons/question_navy.png"/>
          <p:cNvPicPr>
            <a:picLocks noChangeAspect="1"/>
          </p:cNvPicPr>
          <p:nvPr/>
        </p:nvPicPr>
        <p:blipFill>
          <a:blip r:embed="rId3"/>
          <a:stretch>
            <a:fillRect/>
          </a:stretch>
        </p:blipFill>
        <p:spPr>
          <a:xfrm>
            <a:off x="777240" y="1627632"/>
            <a:ext cx="502920" cy="502920"/>
          </a:xfrm>
          <a:prstGeom prst="rect">
            <a:avLst/>
          </a:prstGeom>
        </p:spPr>
      </p:pic>
      <p:sp>
        <p:nvSpPr>
          <p:cNvPr id="6" name="Text 3"/>
          <p:cNvSpPr/>
          <p:nvPr/>
        </p:nvSpPr>
        <p:spPr>
          <a:xfrm>
            <a:off x="1463040" y="1463040"/>
            <a:ext cx="9966960" cy="868680"/>
          </a:xfrm>
          <a:prstGeom prst="rect">
            <a:avLst/>
          </a:prstGeom>
          <a:noFill/>
          <a:ln/>
        </p:spPr>
        <p:txBody>
          <a:bodyPr wrap="square" rtlCol="0" anchor="ctr"/>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The Scenario: </a:t>
            </a:r>
            <a:r>
              <a:rPr lang="en-US" sz="1300" dirty="0">
                <a:solidFill>
                  <a:srgbClr val="333333"/>
                </a:solidFill>
                <a:latin typeface="Calibri" pitchFamily="34" charset="0"/>
                <a:ea typeface="Calibri" pitchFamily="34" charset="-122"/>
                <a:cs typeface="Calibri" pitchFamily="34" charset="-120"/>
              </a:rPr>
              <a:t>HQ has received 24 months of raw transactional data from all five branches. The COO has tasked the Analytics Team with understanding performance, surfacing problem areas, and recommending growth strategies ahead of the Board Review Meeting.</a:t>
            </a:r>
            <a:endParaRPr lang="en-US" sz="1300" dirty="0"/>
          </a:p>
        </p:txBody>
      </p:sp>
      <p:sp>
        <p:nvSpPr>
          <p:cNvPr id="7" name="Text 4"/>
          <p:cNvSpPr/>
          <p:nvPr/>
        </p:nvSpPr>
        <p:spPr>
          <a:xfrm>
            <a:off x="548640" y="2606040"/>
            <a:ext cx="548640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Why this is genuinely hard:</a:t>
            </a:r>
            <a:endParaRPr lang="en-US" sz="1400" dirty="0"/>
          </a:p>
        </p:txBody>
      </p:sp>
      <p:sp>
        <p:nvSpPr>
          <p:cNvPr id="8" name="Shape 5"/>
          <p:cNvSpPr/>
          <p:nvPr/>
        </p:nvSpPr>
        <p:spPr>
          <a:xfrm>
            <a:off x="548640" y="3017520"/>
            <a:ext cx="292608" cy="292608"/>
          </a:xfrm>
          <a:prstGeom prst="ellipse">
            <a:avLst/>
          </a:prstGeom>
          <a:solidFill>
            <a:srgbClr val="C00000"/>
          </a:solidFill>
          <a:ln/>
        </p:spPr>
      </p:sp>
      <p:sp>
        <p:nvSpPr>
          <p:cNvPr id="9" name="Text 6"/>
          <p:cNvSpPr/>
          <p:nvPr/>
        </p:nvSpPr>
        <p:spPr>
          <a:xfrm>
            <a:off x="548640" y="301752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005840" y="2944368"/>
            <a:ext cx="5120640" cy="685800"/>
          </a:xfrm>
          <a:prstGeom prst="rect">
            <a:avLst/>
          </a:prstGeom>
          <a:noFill/>
          <a:ln/>
        </p:spPr>
        <p:txBody>
          <a:bodyPr wrap="square" rtlCol="0" anchor="ctr"/>
          <a:lstStyle/>
          <a:p>
            <a:pPr marL="0" indent="0">
              <a:lnSpc>
                <a:spcPct val="110000"/>
              </a:lnSpc>
              <a:buNone/>
            </a:pPr>
            <a:r>
              <a:rPr lang="en-US" sz="1200" dirty="0">
                <a:solidFill>
                  <a:srgbClr val="333333"/>
                </a:solidFill>
                <a:latin typeface="Calibri" pitchFamily="34" charset="0"/>
                <a:ea typeface="Calibri" pitchFamily="34" charset="-122"/>
                <a:cs typeface="Calibri" pitchFamily="34" charset="-120"/>
              </a:rPr>
              <a:t>Five branches differ in size, age, and category mix — raw sales totals alone are not a fair comparison.</a:t>
            </a:r>
            <a:endParaRPr lang="en-US" sz="1200" dirty="0"/>
          </a:p>
        </p:txBody>
      </p:sp>
      <p:sp>
        <p:nvSpPr>
          <p:cNvPr id="11" name="Shape 8"/>
          <p:cNvSpPr/>
          <p:nvPr/>
        </p:nvSpPr>
        <p:spPr>
          <a:xfrm>
            <a:off x="548640" y="3730752"/>
            <a:ext cx="292608" cy="292608"/>
          </a:xfrm>
          <a:prstGeom prst="ellipse">
            <a:avLst/>
          </a:prstGeom>
          <a:solidFill>
            <a:srgbClr val="C00000"/>
          </a:solidFill>
          <a:ln/>
        </p:spPr>
      </p:sp>
      <p:sp>
        <p:nvSpPr>
          <p:cNvPr id="12" name="Text 9"/>
          <p:cNvSpPr/>
          <p:nvPr/>
        </p:nvSpPr>
        <p:spPr>
          <a:xfrm>
            <a:off x="548640" y="3730752"/>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05840" y="3657600"/>
            <a:ext cx="5120640" cy="685800"/>
          </a:xfrm>
          <a:prstGeom prst="rect">
            <a:avLst/>
          </a:prstGeom>
          <a:noFill/>
          <a:ln/>
        </p:spPr>
        <p:txBody>
          <a:bodyPr wrap="square" rtlCol="0" anchor="ctr"/>
          <a:lstStyle/>
          <a:p>
            <a:pPr marL="0" indent="0">
              <a:lnSpc>
                <a:spcPct val="110000"/>
              </a:lnSpc>
              <a:buNone/>
            </a:pPr>
            <a:r>
              <a:rPr lang="en-US" sz="1200" dirty="0">
                <a:solidFill>
                  <a:srgbClr val="333333"/>
                </a:solidFill>
                <a:latin typeface="Calibri" pitchFamily="34" charset="0"/>
                <a:ea typeface="Calibri" pitchFamily="34" charset="-122"/>
                <a:cs typeface="Calibri" pitchFamily="34" charset="-120"/>
              </a:rPr>
              <a:t>Source data arrived with quality issues (formatting, blanks, swapped columns) that can silently distort any KPI built on top of it.</a:t>
            </a:r>
            <a:endParaRPr lang="en-US" sz="1200" dirty="0"/>
          </a:p>
        </p:txBody>
      </p:sp>
      <p:sp>
        <p:nvSpPr>
          <p:cNvPr id="14" name="Shape 11"/>
          <p:cNvSpPr/>
          <p:nvPr/>
        </p:nvSpPr>
        <p:spPr>
          <a:xfrm>
            <a:off x="548640" y="4443984"/>
            <a:ext cx="292608" cy="292608"/>
          </a:xfrm>
          <a:prstGeom prst="ellipse">
            <a:avLst/>
          </a:prstGeom>
          <a:solidFill>
            <a:srgbClr val="C00000"/>
          </a:solidFill>
          <a:ln/>
        </p:spPr>
      </p:sp>
      <p:sp>
        <p:nvSpPr>
          <p:cNvPr id="15" name="Text 12"/>
          <p:cNvSpPr/>
          <p:nvPr/>
        </p:nvSpPr>
        <p:spPr>
          <a:xfrm>
            <a:off x="548640" y="4443984"/>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005840" y="4370832"/>
            <a:ext cx="5120640" cy="685800"/>
          </a:xfrm>
          <a:prstGeom prst="rect">
            <a:avLst/>
          </a:prstGeom>
          <a:noFill/>
          <a:ln/>
        </p:spPr>
        <p:txBody>
          <a:bodyPr wrap="square" rtlCol="0" anchor="ctr"/>
          <a:lstStyle/>
          <a:p>
            <a:pPr marL="0" indent="0">
              <a:lnSpc>
                <a:spcPct val="110000"/>
              </a:lnSpc>
              <a:buNone/>
            </a:pPr>
            <a:r>
              <a:rPr lang="en-US" sz="1200" dirty="0">
                <a:solidFill>
                  <a:srgbClr val="333333"/>
                </a:solidFill>
                <a:latin typeface="Calibri" pitchFamily="34" charset="0"/>
                <a:ea typeface="Calibri" pitchFamily="34" charset="-122"/>
                <a:cs typeface="Calibri" pitchFamily="34" charset="-120"/>
              </a:rPr>
              <a:t>Sales targets vary by branch and category, so 'high sales' does not necessarily mean 'good performance.'</a:t>
            </a:r>
            <a:endParaRPr lang="en-US" sz="1200" dirty="0"/>
          </a:p>
        </p:txBody>
      </p:sp>
      <p:sp>
        <p:nvSpPr>
          <p:cNvPr id="17" name="Text 14"/>
          <p:cNvSpPr/>
          <p:nvPr/>
        </p:nvSpPr>
        <p:spPr>
          <a:xfrm>
            <a:off x="6400800" y="2606040"/>
            <a:ext cx="521208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What analytics needs to answer:</a:t>
            </a:r>
            <a:endParaRPr lang="en-US" sz="1400" dirty="0"/>
          </a:p>
        </p:txBody>
      </p:sp>
      <p:sp>
        <p:nvSpPr>
          <p:cNvPr id="18" name="Shape 15"/>
          <p:cNvSpPr/>
          <p:nvPr/>
        </p:nvSpPr>
        <p:spPr>
          <a:xfrm>
            <a:off x="6400800" y="3017520"/>
            <a:ext cx="5212080" cy="594360"/>
          </a:xfrm>
          <a:prstGeom prst="roundRect">
            <a:avLst>
              <a:gd name="adj" fmla="val 9231"/>
            </a:avLst>
          </a:prstGeom>
          <a:solidFill>
            <a:srgbClr val="F4F4F6"/>
          </a:solidFill>
          <a:ln/>
        </p:spPr>
      </p:sp>
      <p:sp>
        <p:nvSpPr>
          <p:cNvPr id="19" name="Text 16"/>
          <p:cNvSpPr/>
          <p:nvPr/>
        </p:nvSpPr>
        <p:spPr>
          <a:xfrm>
            <a:off x="6537960" y="3017520"/>
            <a:ext cx="457200" cy="594360"/>
          </a:xfrm>
          <a:prstGeom prst="rect">
            <a:avLst/>
          </a:prstGeom>
          <a:noFill/>
          <a:ln/>
        </p:spPr>
        <p:txBody>
          <a:bodyPr wrap="square" rtlCol="0" anchor="ctr"/>
          <a:lstStyle/>
          <a:p>
            <a:pPr marL="0" indent="0">
              <a:buNone/>
            </a:pPr>
            <a:r>
              <a:rPr lang="en-US" sz="1300" b="1" dirty="0">
                <a:solidFill>
                  <a:srgbClr val="C00000"/>
                </a:solidFill>
                <a:latin typeface="Cambria" pitchFamily="34" charset="0"/>
                <a:ea typeface="Cambria" pitchFamily="34" charset="-122"/>
                <a:cs typeface="Cambria" pitchFamily="34" charset="-120"/>
              </a:rPr>
              <a:t>Q1</a:t>
            </a:r>
            <a:endParaRPr lang="en-US" sz="1300" dirty="0"/>
          </a:p>
        </p:txBody>
      </p:sp>
      <p:sp>
        <p:nvSpPr>
          <p:cNvPr id="20" name="Text 17"/>
          <p:cNvSpPr/>
          <p:nvPr/>
        </p:nvSpPr>
        <p:spPr>
          <a:xfrm>
            <a:off x="6995160" y="3017520"/>
            <a:ext cx="4526280" cy="59436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Which branch generates the most value — and which underperforms its target?</a:t>
            </a:r>
            <a:endParaRPr lang="en-US" sz="1150" dirty="0"/>
          </a:p>
        </p:txBody>
      </p:sp>
      <p:sp>
        <p:nvSpPr>
          <p:cNvPr id="21" name="Shape 18"/>
          <p:cNvSpPr/>
          <p:nvPr/>
        </p:nvSpPr>
        <p:spPr>
          <a:xfrm>
            <a:off x="6400800" y="3730752"/>
            <a:ext cx="5212080" cy="594360"/>
          </a:xfrm>
          <a:prstGeom prst="roundRect">
            <a:avLst>
              <a:gd name="adj" fmla="val 9231"/>
            </a:avLst>
          </a:prstGeom>
          <a:solidFill>
            <a:srgbClr val="F4F4F6"/>
          </a:solidFill>
          <a:ln/>
        </p:spPr>
      </p:sp>
      <p:sp>
        <p:nvSpPr>
          <p:cNvPr id="22" name="Text 19"/>
          <p:cNvSpPr/>
          <p:nvPr/>
        </p:nvSpPr>
        <p:spPr>
          <a:xfrm>
            <a:off x="6537960" y="3730752"/>
            <a:ext cx="457200" cy="594360"/>
          </a:xfrm>
          <a:prstGeom prst="rect">
            <a:avLst/>
          </a:prstGeom>
          <a:noFill/>
          <a:ln/>
        </p:spPr>
        <p:txBody>
          <a:bodyPr wrap="square" rtlCol="0" anchor="ctr"/>
          <a:lstStyle/>
          <a:p>
            <a:pPr marL="0" indent="0">
              <a:buNone/>
            </a:pPr>
            <a:r>
              <a:rPr lang="en-US" sz="1300" b="1" dirty="0">
                <a:solidFill>
                  <a:srgbClr val="C00000"/>
                </a:solidFill>
                <a:latin typeface="Cambria" pitchFamily="34" charset="0"/>
                <a:ea typeface="Cambria" pitchFamily="34" charset="-122"/>
                <a:cs typeface="Cambria" pitchFamily="34" charset="-120"/>
              </a:rPr>
              <a:t>Q2</a:t>
            </a:r>
            <a:endParaRPr lang="en-US" sz="1300" dirty="0"/>
          </a:p>
        </p:txBody>
      </p:sp>
      <p:sp>
        <p:nvSpPr>
          <p:cNvPr id="23" name="Text 20"/>
          <p:cNvSpPr/>
          <p:nvPr/>
        </p:nvSpPr>
        <p:spPr>
          <a:xfrm>
            <a:off x="6995160" y="3730752"/>
            <a:ext cx="4526280" cy="59436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Which product categories drive revenue, and which are structurally under-target?</a:t>
            </a:r>
            <a:endParaRPr lang="en-US" sz="1150" dirty="0"/>
          </a:p>
        </p:txBody>
      </p:sp>
      <p:sp>
        <p:nvSpPr>
          <p:cNvPr id="24" name="Shape 21"/>
          <p:cNvSpPr/>
          <p:nvPr/>
        </p:nvSpPr>
        <p:spPr>
          <a:xfrm>
            <a:off x="6400800" y="4443984"/>
            <a:ext cx="5212080" cy="594360"/>
          </a:xfrm>
          <a:prstGeom prst="roundRect">
            <a:avLst>
              <a:gd name="adj" fmla="val 9231"/>
            </a:avLst>
          </a:prstGeom>
          <a:solidFill>
            <a:srgbClr val="F4F4F6"/>
          </a:solidFill>
          <a:ln/>
        </p:spPr>
      </p:sp>
      <p:sp>
        <p:nvSpPr>
          <p:cNvPr id="25" name="Text 22"/>
          <p:cNvSpPr/>
          <p:nvPr/>
        </p:nvSpPr>
        <p:spPr>
          <a:xfrm>
            <a:off x="6537960" y="4443984"/>
            <a:ext cx="457200" cy="594360"/>
          </a:xfrm>
          <a:prstGeom prst="rect">
            <a:avLst/>
          </a:prstGeom>
          <a:noFill/>
          <a:ln/>
        </p:spPr>
        <p:txBody>
          <a:bodyPr wrap="square" rtlCol="0" anchor="ctr"/>
          <a:lstStyle/>
          <a:p>
            <a:pPr marL="0" indent="0">
              <a:buNone/>
            </a:pPr>
            <a:r>
              <a:rPr lang="en-US" sz="1300" b="1" dirty="0">
                <a:solidFill>
                  <a:srgbClr val="C00000"/>
                </a:solidFill>
                <a:latin typeface="Cambria" pitchFamily="34" charset="0"/>
                <a:ea typeface="Cambria" pitchFamily="34" charset="-122"/>
                <a:cs typeface="Cambria" pitchFamily="34" charset="-120"/>
              </a:rPr>
              <a:t>Q3</a:t>
            </a:r>
            <a:endParaRPr lang="en-US" sz="1300" dirty="0"/>
          </a:p>
        </p:txBody>
      </p:sp>
      <p:sp>
        <p:nvSpPr>
          <p:cNvPr id="26" name="Text 23"/>
          <p:cNvSpPr/>
          <p:nvPr/>
        </p:nvSpPr>
        <p:spPr>
          <a:xfrm>
            <a:off x="6995160" y="4443984"/>
            <a:ext cx="4526280" cy="59436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Are satisfaction and returns systematically different across branches?</a:t>
            </a:r>
            <a:endParaRPr lang="en-US" sz="1150" dirty="0"/>
          </a:p>
        </p:txBody>
      </p:sp>
      <p:sp>
        <p:nvSpPr>
          <p:cNvPr id="27" name="Shape 24"/>
          <p:cNvSpPr/>
          <p:nvPr/>
        </p:nvSpPr>
        <p:spPr>
          <a:xfrm>
            <a:off x="6400800" y="5157216"/>
            <a:ext cx="5212080" cy="594360"/>
          </a:xfrm>
          <a:prstGeom prst="roundRect">
            <a:avLst>
              <a:gd name="adj" fmla="val 9231"/>
            </a:avLst>
          </a:prstGeom>
          <a:solidFill>
            <a:srgbClr val="F4F4F6"/>
          </a:solidFill>
          <a:ln/>
        </p:spPr>
      </p:sp>
      <p:sp>
        <p:nvSpPr>
          <p:cNvPr id="28" name="Text 25"/>
          <p:cNvSpPr/>
          <p:nvPr/>
        </p:nvSpPr>
        <p:spPr>
          <a:xfrm>
            <a:off x="6537960" y="5157216"/>
            <a:ext cx="457200" cy="594360"/>
          </a:xfrm>
          <a:prstGeom prst="rect">
            <a:avLst/>
          </a:prstGeom>
          <a:noFill/>
          <a:ln/>
        </p:spPr>
        <p:txBody>
          <a:bodyPr wrap="square" rtlCol="0" anchor="ctr"/>
          <a:lstStyle/>
          <a:p>
            <a:pPr marL="0" indent="0">
              <a:buNone/>
            </a:pPr>
            <a:r>
              <a:rPr lang="en-US" sz="1300" b="1" dirty="0">
                <a:solidFill>
                  <a:srgbClr val="C00000"/>
                </a:solidFill>
                <a:latin typeface="Cambria" pitchFamily="34" charset="0"/>
                <a:ea typeface="Cambria" pitchFamily="34" charset="-122"/>
                <a:cs typeface="Cambria" pitchFamily="34" charset="-120"/>
              </a:rPr>
              <a:t>Q4</a:t>
            </a:r>
            <a:endParaRPr lang="en-US" sz="1300" dirty="0"/>
          </a:p>
        </p:txBody>
      </p:sp>
      <p:sp>
        <p:nvSpPr>
          <p:cNvPr id="29" name="Text 26"/>
          <p:cNvSpPr/>
          <p:nvPr/>
        </p:nvSpPr>
        <p:spPr>
          <a:xfrm>
            <a:off x="6995160" y="5157216"/>
            <a:ext cx="4526280" cy="59436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What does the 2-year sales trend tell us about seasonality and growth?</a:t>
            </a:r>
            <a:endParaRPr lang="en-US" sz="1150" dirty="0"/>
          </a:p>
        </p:txBody>
      </p:sp>
      <p:sp>
        <p:nvSpPr>
          <p:cNvPr id="30" name="Text 27"/>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31" name="Text 28"/>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DATASET &amp; METHODOLOGY</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What We Analyzed, and How</a:t>
            </a:r>
            <a:endParaRPr lang="en-US" sz="2800" dirty="0"/>
          </a:p>
        </p:txBody>
      </p:sp>
      <p:sp>
        <p:nvSpPr>
          <p:cNvPr id="4" name="Text 2"/>
          <p:cNvSpPr/>
          <p:nvPr/>
        </p:nvSpPr>
        <p:spPr>
          <a:xfrm>
            <a:off x="548640" y="1417320"/>
            <a:ext cx="5303520" cy="32004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Dataset Overview</a:t>
            </a:r>
            <a:endParaRPr lang="en-US" sz="1500" dirty="0"/>
          </a:p>
        </p:txBody>
      </p:sp>
      <p:sp>
        <p:nvSpPr>
          <p:cNvPr id="5" name="Text 3"/>
          <p:cNvSpPr/>
          <p:nvPr/>
        </p:nvSpPr>
        <p:spPr>
          <a:xfrm>
            <a:off x="548640" y="1828800"/>
            <a:ext cx="5303520" cy="228600"/>
          </a:xfrm>
          <a:prstGeom prst="rect">
            <a:avLst/>
          </a:prstGeom>
          <a:noFill/>
          <a:ln/>
        </p:spPr>
        <p:txBody>
          <a:bodyPr wrap="square" rtlCol="0" anchor="ctr"/>
          <a:lstStyle/>
          <a:p>
            <a:pPr marL="0" indent="0">
              <a:buNone/>
            </a:pPr>
            <a:r>
              <a:rPr lang="en-US" sz="950" b="1" kern="0" spc="100" dirty="0">
                <a:solidFill>
                  <a:srgbClr val="C00000"/>
                </a:solidFill>
                <a:latin typeface="Calibri" pitchFamily="34" charset="0"/>
                <a:ea typeface="Calibri" pitchFamily="34" charset="-122"/>
                <a:cs typeface="Calibri" pitchFamily="34" charset="-120"/>
              </a:rPr>
              <a:t>SOURCE</a:t>
            </a:r>
            <a:endParaRPr lang="en-US" sz="950" dirty="0"/>
          </a:p>
        </p:txBody>
      </p:sp>
      <p:sp>
        <p:nvSpPr>
          <p:cNvPr id="6" name="Text 4"/>
          <p:cNvSpPr/>
          <p:nvPr/>
        </p:nvSpPr>
        <p:spPr>
          <a:xfrm>
            <a:off x="548640" y="2048256"/>
            <a:ext cx="5303520" cy="41148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ZenithMart consolidated transaction extract, 5 branch sales ledgers</a:t>
            </a:r>
            <a:endParaRPr lang="en-US" sz="1150" dirty="0"/>
          </a:p>
        </p:txBody>
      </p:sp>
      <p:sp>
        <p:nvSpPr>
          <p:cNvPr id="7" name="Text 5"/>
          <p:cNvSpPr/>
          <p:nvPr/>
        </p:nvSpPr>
        <p:spPr>
          <a:xfrm>
            <a:off x="548640" y="2505456"/>
            <a:ext cx="5303520" cy="228600"/>
          </a:xfrm>
          <a:prstGeom prst="rect">
            <a:avLst/>
          </a:prstGeom>
          <a:noFill/>
          <a:ln/>
        </p:spPr>
        <p:txBody>
          <a:bodyPr wrap="square" rtlCol="0" anchor="ctr"/>
          <a:lstStyle/>
          <a:p>
            <a:pPr marL="0" indent="0">
              <a:buNone/>
            </a:pPr>
            <a:r>
              <a:rPr lang="en-US" sz="950" b="1" kern="0" spc="100" dirty="0">
                <a:solidFill>
                  <a:srgbClr val="C00000"/>
                </a:solidFill>
                <a:latin typeface="Calibri" pitchFamily="34" charset="0"/>
                <a:ea typeface="Calibri" pitchFamily="34" charset="-122"/>
                <a:cs typeface="Calibri" pitchFamily="34" charset="-120"/>
              </a:rPr>
              <a:t>RECORDS</a:t>
            </a:r>
            <a:endParaRPr lang="en-US" sz="950" dirty="0"/>
          </a:p>
        </p:txBody>
      </p:sp>
      <p:sp>
        <p:nvSpPr>
          <p:cNvPr id="8" name="Text 6"/>
          <p:cNvSpPr/>
          <p:nvPr/>
        </p:nvSpPr>
        <p:spPr>
          <a:xfrm>
            <a:off x="548640" y="2724912"/>
            <a:ext cx="5303520" cy="41148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5,500 transactions (1,100 per branch)</a:t>
            </a:r>
            <a:endParaRPr lang="en-US" sz="1150" dirty="0"/>
          </a:p>
        </p:txBody>
      </p:sp>
      <p:sp>
        <p:nvSpPr>
          <p:cNvPr id="9" name="Text 7"/>
          <p:cNvSpPr/>
          <p:nvPr/>
        </p:nvSpPr>
        <p:spPr>
          <a:xfrm>
            <a:off x="548640" y="3182112"/>
            <a:ext cx="5303520" cy="228600"/>
          </a:xfrm>
          <a:prstGeom prst="rect">
            <a:avLst/>
          </a:prstGeom>
          <a:noFill/>
          <a:ln/>
        </p:spPr>
        <p:txBody>
          <a:bodyPr wrap="square" rtlCol="0" anchor="ctr"/>
          <a:lstStyle/>
          <a:p>
            <a:pPr marL="0" indent="0">
              <a:buNone/>
            </a:pPr>
            <a:r>
              <a:rPr lang="en-US" sz="950" b="1" kern="0" spc="100" dirty="0">
                <a:solidFill>
                  <a:srgbClr val="C00000"/>
                </a:solidFill>
                <a:latin typeface="Calibri" pitchFamily="34" charset="0"/>
                <a:ea typeface="Calibri" pitchFamily="34" charset="-122"/>
                <a:cs typeface="Calibri" pitchFamily="34" charset="-120"/>
              </a:rPr>
              <a:t>BRANCHES COVERED</a:t>
            </a:r>
            <a:endParaRPr lang="en-US" sz="950" dirty="0"/>
          </a:p>
        </p:txBody>
      </p:sp>
      <p:sp>
        <p:nvSpPr>
          <p:cNvPr id="10" name="Text 8"/>
          <p:cNvSpPr/>
          <p:nvPr/>
        </p:nvSpPr>
        <p:spPr>
          <a:xfrm>
            <a:off x="548640" y="3401568"/>
            <a:ext cx="5303520" cy="41148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Lagos Island, Abuja Central, Port Harcourt, Ibadan, Kano</a:t>
            </a:r>
            <a:endParaRPr lang="en-US" sz="1150" dirty="0"/>
          </a:p>
        </p:txBody>
      </p:sp>
      <p:sp>
        <p:nvSpPr>
          <p:cNvPr id="11" name="Text 9"/>
          <p:cNvSpPr/>
          <p:nvPr/>
        </p:nvSpPr>
        <p:spPr>
          <a:xfrm>
            <a:off x="548640" y="3858768"/>
            <a:ext cx="5303520" cy="228600"/>
          </a:xfrm>
          <a:prstGeom prst="rect">
            <a:avLst/>
          </a:prstGeom>
          <a:noFill/>
          <a:ln/>
        </p:spPr>
        <p:txBody>
          <a:bodyPr wrap="square" rtlCol="0" anchor="ctr"/>
          <a:lstStyle/>
          <a:p>
            <a:pPr marL="0" indent="0">
              <a:buNone/>
            </a:pPr>
            <a:r>
              <a:rPr lang="en-US" sz="950" b="1" kern="0" spc="100" dirty="0">
                <a:solidFill>
                  <a:srgbClr val="C00000"/>
                </a:solidFill>
                <a:latin typeface="Calibri" pitchFamily="34" charset="0"/>
                <a:ea typeface="Calibri" pitchFamily="34" charset="-122"/>
                <a:cs typeface="Calibri" pitchFamily="34" charset="-120"/>
              </a:rPr>
              <a:t>PERIOD COVERED</a:t>
            </a:r>
            <a:endParaRPr lang="en-US" sz="950" dirty="0"/>
          </a:p>
        </p:txBody>
      </p:sp>
      <p:sp>
        <p:nvSpPr>
          <p:cNvPr id="12" name="Text 10"/>
          <p:cNvSpPr/>
          <p:nvPr/>
        </p:nvSpPr>
        <p:spPr>
          <a:xfrm>
            <a:off x="548640" y="4078224"/>
            <a:ext cx="5303520" cy="41148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January 2023 – December 2024 (24 months)</a:t>
            </a:r>
            <a:endParaRPr lang="en-US" sz="1150" dirty="0"/>
          </a:p>
        </p:txBody>
      </p:sp>
      <p:sp>
        <p:nvSpPr>
          <p:cNvPr id="13" name="Text 11"/>
          <p:cNvSpPr/>
          <p:nvPr/>
        </p:nvSpPr>
        <p:spPr>
          <a:xfrm>
            <a:off x="548640" y="4535424"/>
            <a:ext cx="5303520" cy="228600"/>
          </a:xfrm>
          <a:prstGeom prst="rect">
            <a:avLst/>
          </a:prstGeom>
          <a:noFill/>
          <a:ln/>
        </p:spPr>
        <p:txBody>
          <a:bodyPr wrap="square" rtlCol="0" anchor="ctr"/>
          <a:lstStyle/>
          <a:p>
            <a:pPr marL="0" indent="0">
              <a:buNone/>
            </a:pPr>
            <a:r>
              <a:rPr lang="en-US" sz="950" b="1" kern="0" spc="100" dirty="0">
                <a:solidFill>
                  <a:srgbClr val="C00000"/>
                </a:solidFill>
                <a:latin typeface="Calibri" pitchFamily="34" charset="0"/>
                <a:ea typeface="Calibri" pitchFamily="34" charset="-122"/>
                <a:cs typeface="Calibri" pitchFamily="34" charset="-120"/>
              </a:rPr>
              <a:t>VARIABLES ANALYZED</a:t>
            </a:r>
            <a:endParaRPr lang="en-US" sz="950" dirty="0"/>
          </a:p>
        </p:txBody>
      </p:sp>
      <p:sp>
        <p:nvSpPr>
          <p:cNvPr id="14" name="Text 12"/>
          <p:cNvSpPr/>
          <p:nvPr/>
        </p:nvSpPr>
        <p:spPr>
          <a:xfrm>
            <a:off x="548640" y="4754880"/>
            <a:ext cx="5303520" cy="41148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18 fields: dates, branch, rep, customer, category, product, qty, price, sales, discount, payment, satisfaction, returns, stock, target</a:t>
            </a:r>
            <a:endParaRPr lang="en-US" sz="1150" dirty="0"/>
          </a:p>
        </p:txBody>
      </p:sp>
      <p:sp>
        <p:nvSpPr>
          <p:cNvPr id="15" name="Text 13"/>
          <p:cNvSpPr/>
          <p:nvPr/>
        </p:nvSpPr>
        <p:spPr>
          <a:xfrm>
            <a:off x="6172200" y="1417320"/>
            <a:ext cx="5486400" cy="32004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Data Quality Issues Found &amp; Resolved</a:t>
            </a:r>
            <a:endParaRPr lang="en-US" sz="1500" dirty="0"/>
          </a:p>
        </p:txBody>
      </p:sp>
      <p:pic>
        <p:nvPicPr>
          <p:cNvPr id="16" name="Image 0" descr="/home/claude/build/icons/warning_navy.png"/>
          <p:cNvPicPr>
            <a:picLocks noChangeAspect="1"/>
          </p:cNvPicPr>
          <p:nvPr/>
        </p:nvPicPr>
        <p:blipFill>
          <a:blip r:embed="rId3"/>
          <a:stretch>
            <a:fillRect/>
          </a:stretch>
        </p:blipFill>
        <p:spPr>
          <a:xfrm>
            <a:off x="6172200" y="1856232"/>
            <a:ext cx="256032" cy="256032"/>
          </a:xfrm>
          <a:prstGeom prst="rect">
            <a:avLst/>
          </a:prstGeom>
        </p:spPr>
      </p:pic>
      <p:sp>
        <p:nvSpPr>
          <p:cNvPr id="17" name="Text 14"/>
          <p:cNvSpPr/>
          <p:nvPr/>
        </p:nvSpPr>
        <p:spPr>
          <a:xfrm>
            <a:off x="6537960" y="1828800"/>
            <a:ext cx="5120640" cy="45720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Trailing whitespace in branch names (e.g. 'Lagos Island ')</a:t>
            </a:r>
            <a:endParaRPr lang="en-US" sz="1150" dirty="0"/>
          </a:p>
        </p:txBody>
      </p:sp>
      <p:pic>
        <p:nvPicPr>
          <p:cNvPr id="18" name="Image 1" descr="/home/claude/build/icons/warning_navy.png"/>
          <p:cNvPicPr>
            <a:picLocks noChangeAspect="1"/>
          </p:cNvPicPr>
          <p:nvPr/>
        </p:nvPicPr>
        <p:blipFill>
          <a:blip r:embed="rId3"/>
          <a:stretch>
            <a:fillRect/>
          </a:stretch>
        </p:blipFill>
        <p:spPr>
          <a:xfrm>
            <a:off x="6172200" y="2368296"/>
            <a:ext cx="256032" cy="256032"/>
          </a:xfrm>
          <a:prstGeom prst="rect">
            <a:avLst/>
          </a:prstGeom>
        </p:spPr>
      </p:pic>
      <p:sp>
        <p:nvSpPr>
          <p:cNvPr id="19" name="Text 15"/>
          <p:cNvSpPr/>
          <p:nvPr/>
        </p:nvSpPr>
        <p:spPr>
          <a:xfrm>
            <a:off x="6537960" y="2340864"/>
            <a:ext cx="5120640" cy="45720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A full column swap between Satisfaction Score and Return Flag, isolated to one branch</a:t>
            </a:r>
            <a:endParaRPr lang="en-US" sz="1150" dirty="0"/>
          </a:p>
        </p:txBody>
      </p:sp>
      <p:pic>
        <p:nvPicPr>
          <p:cNvPr id="20" name="Image 2" descr="/home/claude/build/icons/warning_navy.png"/>
          <p:cNvPicPr>
            <a:picLocks noChangeAspect="1"/>
          </p:cNvPicPr>
          <p:nvPr/>
        </p:nvPicPr>
        <p:blipFill>
          <a:blip r:embed="rId3"/>
          <a:stretch>
            <a:fillRect/>
          </a:stretch>
        </p:blipFill>
        <p:spPr>
          <a:xfrm>
            <a:off x="6172200" y="2880360"/>
            <a:ext cx="256032" cy="256032"/>
          </a:xfrm>
          <a:prstGeom prst="rect">
            <a:avLst/>
          </a:prstGeom>
        </p:spPr>
      </p:pic>
      <p:sp>
        <p:nvSpPr>
          <p:cNvPr id="21" name="Text 16"/>
          <p:cNvSpPr/>
          <p:nvPr/>
        </p:nvSpPr>
        <p:spPr>
          <a:xfrm>
            <a:off x="6537960" y="2852928"/>
            <a:ext cx="5120640" cy="45720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Out-of-range satisfaction scores (0, 6, 7) and invalid return-flag entries</a:t>
            </a:r>
            <a:endParaRPr lang="en-US" sz="1150" dirty="0"/>
          </a:p>
        </p:txBody>
      </p:sp>
      <p:pic>
        <p:nvPicPr>
          <p:cNvPr id="22" name="Image 3" descr="/home/claude/build/icons/warning_navy.png"/>
          <p:cNvPicPr>
            <a:picLocks noChangeAspect="1"/>
          </p:cNvPicPr>
          <p:nvPr/>
        </p:nvPicPr>
        <p:blipFill>
          <a:blip r:embed="rId3"/>
          <a:stretch>
            <a:fillRect/>
          </a:stretch>
        </p:blipFill>
        <p:spPr>
          <a:xfrm>
            <a:off x="6172200" y="3392424"/>
            <a:ext cx="256032" cy="256032"/>
          </a:xfrm>
          <a:prstGeom prst="rect">
            <a:avLst/>
          </a:prstGeom>
        </p:spPr>
      </p:pic>
      <p:sp>
        <p:nvSpPr>
          <p:cNvPr id="23" name="Text 17"/>
          <p:cNvSpPr/>
          <p:nvPr/>
        </p:nvSpPr>
        <p:spPr>
          <a:xfrm>
            <a:off x="6537960" y="3364992"/>
            <a:ext cx="5120640" cy="457200"/>
          </a:xfrm>
          <a:prstGeom prst="rect">
            <a:avLst/>
          </a:prstGeom>
          <a:noFill/>
          <a:ln/>
        </p:spPr>
        <p:txBody>
          <a:bodyPr wrap="square" rtlCol="0" anchor="ctr"/>
          <a:lstStyle/>
          <a:p>
            <a:pPr marL="0" indent="0">
              <a:lnSpc>
                <a:spcPct val="105000"/>
              </a:lnSpc>
              <a:buNone/>
            </a:pPr>
            <a:r>
              <a:rPr lang="en-US" sz="1150" dirty="0">
                <a:solidFill>
                  <a:srgbClr val="333333"/>
                </a:solidFill>
                <a:latin typeface="Calibri" pitchFamily="34" charset="0"/>
                <a:ea typeface="Calibri" pitchFamily="34" charset="-122"/>
                <a:cs typeface="Calibri" pitchFamily="34" charset="-120"/>
              </a:rPr>
              <a:t>Missing values in Payment Method (20.5%), Discount % (16.6%), Phone (17.0%)</a:t>
            </a:r>
            <a:endParaRPr lang="en-US" sz="1150" dirty="0"/>
          </a:p>
        </p:txBody>
      </p:sp>
      <p:sp>
        <p:nvSpPr>
          <p:cNvPr id="24" name="Shape 18"/>
          <p:cNvSpPr/>
          <p:nvPr/>
        </p:nvSpPr>
        <p:spPr>
          <a:xfrm>
            <a:off x="6172200" y="3977640"/>
            <a:ext cx="5486400" cy="1508760"/>
          </a:xfrm>
          <a:prstGeom prst="roundRect">
            <a:avLst>
              <a:gd name="adj" fmla="val 3636"/>
            </a:avLst>
          </a:prstGeom>
          <a:solidFill>
            <a:srgbClr val="1E2761"/>
          </a:solidFill>
          <a:ln/>
        </p:spPr>
      </p:sp>
      <p:sp>
        <p:nvSpPr>
          <p:cNvPr id="25" name="Text 19"/>
          <p:cNvSpPr/>
          <p:nvPr/>
        </p:nvSpPr>
        <p:spPr>
          <a:xfrm>
            <a:off x="6400800" y="4114800"/>
            <a:ext cx="502920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Methodology</a:t>
            </a:r>
            <a:endParaRPr lang="en-US" sz="1250" dirty="0"/>
          </a:p>
        </p:txBody>
      </p:sp>
      <p:sp>
        <p:nvSpPr>
          <p:cNvPr id="26" name="Text 20"/>
          <p:cNvSpPr/>
          <p:nvPr/>
        </p:nvSpPr>
        <p:spPr>
          <a:xfrm>
            <a:off x="6400800" y="4407408"/>
            <a:ext cx="5029200" cy="1005840"/>
          </a:xfrm>
          <a:prstGeom prst="rect">
            <a:avLst/>
          </a:prstGeom>
          <a:noFill/>
          <a:ln/>
        </p:spPr>
        <p:txBody>
          <a:bodyPr wrap="square" rtlCol="0" anchor="ctr"/>
          <a:lstStyle/>
          <a:p>
            <a:pPr marL="0" indent="0">
              <a:lnSpc>
                <a:spcPct val="115000"/>
              </a:lnSpc>
              <a:buNone/>
            </a:pPr>
            <a:r>
              <a:rPr lang="en-US" sz="1100" dirty="0">
                <a:solidFill>
                  <a:srgbClr val="DCE1F5"/>
                </a:solidFill>
                <a:latin typeface="Calibri" pitchFamily="34" charset="0"/>
                <a:ea typeface="Calibri" pitchFamily="34" charset="-122"/>
                <a:cs typeface="Calibri" pitchFamily="34" charset="-120"/>
              </a:rPr>
              <a:t>Clean → Validate → Aggregate (SUMIF/COUNTIFS/AVERAGEIFS pivots) → Benchmark vs. target → Trend (monthly time series) → Insight → Recommendation. Invalid values were excluded from rate/average calculations rather than imputed, to avoid distorting true performance.</a:t>
            </a:r>
            <a:endParaRPr lang="en-US" sz="1100" dirty="0"/>
          </a:p>
        </p:txBody>
      </p:sp>
      <p:sp>
        <p:nvSpPr>
          <p:cNvPr id="27" name="Shape 21"/>
          <p:cNvSpPr/>
          <p:nvPr/>
        </p:nvSpPr>
        <p:spPr>
          <a:xfrm>
            <a:off x="548640" y="5394960"/>
            <a:ext cx="5303520" cy="777240"/>
          </a:xfrm>
          <a:prstGeom prst="roundRect">
            <a:avLst>
              <a:gd name="adj" fmla="val 7059"/>
            </a:avLst>
          </a:prstGeom>
          <a:solidFill>
            <a:srgbClr val="E8EBF7"/>
          </a:solidFill>
          <a:ln/>
        </p:spPr>
      </p:sp>
      <p:sp>
        <p:nvSpPr>
          <p:cNvPr id="28" name="Text 22"/>
          <p:cNvSpPr/>
          <p:nvPr/>
        </p:nvSpPr>
        <p:spPr>
          <a:xfrm>
            <a:off x="731520" y="5440680"/>
            <a:ext cx="4937760" cy="685800"/>
          </a:xfrm>
          <a:prstGeom prst="rect">
            <a:avLst/>
          </a:prstGeom>
          <a:noFill/>
          <a:ln/>
        </p:spPr>
        <p:txBody>
          <a:bodyPr wrap="square" rtlCol="0" anchor="ctr"/>
          <a:lstStyle/>
          <a:p>
            <a:pPr marL="0" indent="0">
              <a:lnSpc>
                <a:spcPct val="110000"/>
              </a:lnSpc>
              <a:buNone/>
            </a:pPr>
            <a:r>
              <a:rPr lang="en-US" sz="1050" b="1" dirty="0">
                <a:solidFill>
                  <a:srgbClr val="1E2761"/>
                </a:solidFill>
                <a:latin typeface="Calibri" pitchFamily="34" charset="0"/>
                <a:ea typeface="Calibri" pitchFamily="34" charset="-122"/>
                <a:cs typeface="Calibri" pitchFamily="34" charset="-120"/>
              </a:rPr>
              <a:t>Key metrics calculated: </a:t>
            </a:r>
            <a:r>
              <a:rPr lang="en-US" sz="1050" dirty="0">
                <a:solidFill>
                  <a:srgbClr val="333333"/>
                </a:solidFill>
                <a:latin typeface="Calibri" pitchFamily="34" charset="0"/>
                <a:ea typeface="Calibri" pitchFamily="34" charset="-122"/>
                <a:cs typeface="Calibri" pitchFamily="34" charset="-120"/>
              </a:rPr>
              <a:t>Total &amp; monthly revenue, target achievement %, average basket size, category contribution %, return rate %, and customer satisfaction by branch.</a:t>
            </a:r>
            <a:endParaRPr lang="en-US" sz="1050" dirty="0"/>
          </a:p>
        </p:txBody>
      </p:sp>
      <p:sp>
        <p:nvSpPr>
          <p:cNvPr id="29" name="Shape 23"/>
          <p:cNvSpPr/>
          <p:nvPr/>
        </p:nvSpPr>
        <p:spPr>
          <a:xfrm>
            <a:off x="6172200" y="5623560"/>
            <a:ext cx="5486400" cy="594360"/>
          </a:xfrm>
          <a:prstGeom prst="roundRect">
            <a:avLst>
              <a:gd name="adj" fmla="val 9231"/>
            </a:avLst>
          </a:prstGeom>
          <a:solidFill>
            <a:srgbClr val="E8EBF7"/>
          </a:solidFill>
          <a:ln/>
        </p:spPr>
      </p:sp>
      <p:sp>
        <p:nvSpPr>
          <p:cNvPr id="30" name="Text 24"/>
          <p:cNvSpPr/>
          <p:nvPr/>
        </p:nvSpPr>
        <p:spPr>
          <a:xfrm>
            <a:off x="6355080" y="5669280"/>
            <a:ext cx="5120640" cy="502920"/>
          </a:xfrm>
          <a:prstGeom prst="rect">
            <a:avLst/>
          </a:prstGeom>
          <a:noFill/>
          <a:ln/>
        </p:spPr>
        <p:txBody>
          <a:bodyPr wrap="square" rtlCol="0" anchor="ctr"/>
          <a:lstStyle/>
          <a:p>
            <a:pPr marL="0" indent="0">
              <a:lnSpc>
                <a:spcPct val="105000"/>
              </a:lnSpc>
              <a:buNone/>
            </a:pPr>
            <a:r>
              <a:rPr lang="en-US" sz="1000" b="1" dirty="0">
                <a:solidFill>
                  <a:srgbClr val="1E2761"/>
                </a:solidFill>
                <a:latin typeface="Calibri" pitchFamily="34" charset="0"/>
                <a:ea typeface="Calibri" pitchFamily="34" charset="-122"/>
                <a:cs typeface="Calibri" pitchFamily="34" charset="-120"/>
              </a:rPr>
              <a:t>Tool restriction honored: </a:t>
            </a:r>
            <a:r>
              <a:rPr lang="en-US" sz="1000" dirty="0">
                <a:solidFill>
                  <a:srgbClr val="333333"/>
                </a:solidFill>
                <a:latin typeface="Calibri" pitchFamily="34" charset="0"/>
                <a:ea typeface="Calibri" pitchFamily="34" charset="-122"/>
                <a:cs typeface="Calibri" pitchFamily="34" charset="-120"/>
              </a:rPr>
              <a:t>all cleaning and analysis performed in Microsoft Excel (formulas &amp; pivot logic); this deck built in PowerPoint.</a:t>
            </a:r>
            <a:endParaRPr lang="en-US" sz="1000" dirty="0"/>
          </a:p>
        </p:txBody>
      </p:sp>
      <p:sp>
        <p:nvSpPr>
          <p:cNvPr id="31" name="Text 25"/>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32" name="Text 26"/>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6"/>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E2761"/>
          </a:solidFill>
          <a:ln/>
        </p:spPr>
      </p:sp>
      <p:sp>
        <p:nvSpPr>
          <p:cNvPr id="3" name="Text 1"/>
          <p:cNvSpPr/>
          <p:nvPr/>
        </p:nvSpPr>
        <p:spPr>
          <a:xfrm>
            <a:off x="548640" y="164592"/>
            <a:ext cx="7315200" cy="256032"/>
          </a:xfrm>
          <a:prstGeom prst="rect">
            <a:avLst/>
          </a:prstGeom>
          <a:noFill/>
          <a:ln/>
        </p:spPr>
        <p:txBody>
          <a:bodyPr wrap="square" rtlCol="0" anchor="ctr"/>
          <a:lstStyle/>
          <a:p>
            <a:pPr marL="0" indent="0">
              <a:buNone/>
            </a:pPr>
            <a:r>
              <a:rPr lang="en-US" sz="1200" b="1" kern="0" spc="200" dirty="0">
                <a:solidFill>
                  <a:srgbClr val="FFB3AB"/>
                </a:solidFill>
                <a:latin typeface="Calibri" pitchFamily="34" charset="0"/>
                <a:ea typeface="Calibri" pitchFamily="34" charset="-122"/>
                <a:cs typeface="Calibri" pitchFamily="34" charset="-120"/>
              </a:rPr>
              <a:t>EXECUTIVE PERFORMANCE OVERVIEW</a:t>
            </a:r>
            <a:endParaRPr lang="en-US" sz="1200" dirty="0"/>
          </a:p>
        </p:txBody>
      </p:sp>
      <p:sp>
        <p:nvSpPr>
          <p:cNvPr id="4" name="Text 2"/>
          <p:cNvSpPr/>
          <p:nvPr/>
        </p:nvSpPr>
        <p:spPr>
          <a:xfrm>
            <a:off x="548640" y="393192"/>
            <a:ext cx="10058400" cy="50292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Group Performance Dashboard — FY2023–FY2024</a:t>
            </a:r>
            <a:endParaRPr lang="en-US" sz="2200" dirty="0"/>
          </a:p>
        </p:txBody>
      </p:sp>
      <p:sp>
        <p:nvSpPr>
          <p:cNvPr id="5" name="Shape 3"/>
          <p:cNvSpPr/>
          <p:nvPr/>
        </p:nvSpPr>
        <p:spPr>
          <a:xfrm>
            <a:off x="1517904" y="932688"/>
            <a:ext cx="9153144" cy="4449572"/>
          </a:xfrm>
          <a:prstGeom prst="roundRect">
            <a:avLst>
              <a:gd name="adj" fmla="val 822"/>
            </a:avLst>
          </a:prstGeom>
          <a:solidFill>
            <a:srgbClr val="FFFFFF"/>
          </a:solidFill>
          <a:ln/>
          <a:effectLst>
            <a:outerShdw blurRad="127000" dist="38100" dir="5400000" algn="bl" rotWithShape="0">
              <a:srgbClr val="000000">
                <a:alpha val="18000"/>
              </a:srgbClr>
            </a:outerShdw>
          </a:effectLst>
        </p:spPr>
      </p:sp>
      <p:pic>
        <p:nvPicPr>
          <p:cNvPr id="6" name="Image 0" descr="/home/claude/build/dashboard.jpg"/>
          <p:cNvPicPr>
            <a:picLocks noChangeAspect="1"/>
          </p:cNvPicPr>
          <p:nvPr/>
        </p:nvPicPr>
        <p:blipFill>
          <a:blip r:embed="rId3"/>
          <a:stretch>
            <a:fillRect/>
          </a:stretch>
        </p:blipFill>
        <p:spPr>
          <a:xfrm>
            <a:off x="1591056" y="1005840"/>
            <a:ext cx="9006840" cy="4303268"/>
          </a:xfrm>
          <a:prstGeom prst="rect">
            <a:avLst/>
          </a:prstGeom>
        </p:spPr>
      </p:pic>
      <p:sp>
        <p:nvSpPr>
          <p:cNvPr id="7" name="Shape 4"/>
          <p:cNvSpPr/>
          <p:nvPr/>
        </p:nvSpPr>
        <p:spPr>
          <a:xfrm>
            <a:off x="548640" y="5437124"/>
            <a:ext cx="3611880" cy="868680"/>
          </a:xfrm>
          <a:prstGeom prst="roundRect">
            <a:avLst>
              <a:gd name="adj" fmla="val 6316"/>
            </a:avLst>
          </a:prstGeom>
          <a:solidFill>
            <a:srgbClr val="FFFFFF"/>
          </a:solidFill>
          <a:ln/>
          <a:effectLst>
            <a:outerShdw blurRad="76200" dist="25400" dir="5400000" algn="bl" rotWithShape="0">
              <a:srgbClr val="000000">
                <a:alpha val="10000"/>
              </a:srgbClr>
            </a:outerShdw>
          </a:effectLst>
        </p:spPr>
      </p:sp>
      <p:sp>
        <p:nvSpPr>
          <p:cNvPr id="8" name="Shape 5"/>
          <p:cNvSpPr/>
          <p:nvPr/>
        </p:nvSpPr>
        <p:spPr>
          <a:xfrm>
            <a:off x="548640" y="5437124"/>
            <a:ext cx="54864" cy="868680"/>
          </a:xfrm>
          <a:prstGeom prst="rect">
            <a:avLst/>
          </a:prstGeom>
          <a:solidFill>
            <a:srgbClr val="C00000"/>
          </a:solidFill>
          <a:ln/>
        </p:spPr>
      </p:sp>
      <p:sp>
        <p:nvSpPr>
          <p:cNvPr id="9" name="Text 6"/>
          <p:cNvSpPr/>
          <p:nvPr/>
        </p:nvSpPr>
        <p:spPr>
          <a:xfrm>
            <a:off x="749808" y="5510276"/>
            <a:ext cx="3246120" cy="228600"/>
          </a:xfrm>
          <a:prstGeom prst="rect">
            <a:avLst/>
          </a:prstGeom>
          <a:noFill/>
          <a:ln/>
        </p:spPr>
        <p:txBody>
          <a:bodyPr wrap="square" rtlCol="0" anchor="ctr"/>
          <a:lstStyle/>
          <a:p>
            <a:pPr marL="0" indent="0">
              <a:buNone/>
            </a:pPr>
            <a:r>
              <a:rPr lang="en-US" sz="950" b="1" kern="0" spc="100" dirty="0">
                <a:solidFill>
                  <a:srgbClr val="C00000"/>
                </a:solidFill>
                <a:latin typeface="Calibri" pitchFamily="34" charset="0"/>
                <a:ea typeface="Calibri" pitchFamily="34" charset="-122"/>
                <a:cs typeface="Calibri" pitchFamily="34" charset="-120"/>
              </a:rPr>
              <a:t>WHAT HAPPENED</a:t>
            </a:r>
            <a:endParaRPr lang="en-US" sz="950" dirty="0"/>
          </a:p>
        </p:txBody>
      </p:sp>
      <p:sp>
        <p:nvSpPr>
          <p:cNvPr id="10" name="Text 7"/>
          <p:cNvSpPr/>
          <p:nvPr/>
        </p:nvSpPr>
        <p:spPr>
          <a:xfrm>
            <a:off x="749808" y="5729732"/>
            <a:ext cx="3246120" cy="502920"/>
          </a:xfrm>
          <a:prstGeom prst="rect">
            <a:avLst/>
          </a:prstGeom>
          <a:noFill/>
          <a:ln/>
        </p:spPr>
        <p:txBody>
          <a:bodyPr wrap="square" rtlCol="0" anchor="ctr"/>
          <a:lstStyle/>
          <a:p>
            <a:pPr marL="0" indent="0">
              <a:lnSpc>
                <a:spcPct val="108000"/>
              </a:lnSpc>
              <a:buNone/>
            </a:pPr>
            <a:r>
              <a:rPr lang="en-US" sz="920" dirty="0">
                <a:solidFill>
                  <a:srgbClr val="333333"/>
                </a:solidFill>
                <a:latin typeface="Calibri" pitchFamily="34" charset="0"/>
                <a:ea typeface="Calibri" pitchFamily="34" charset="-122"/>
                <a:cs typeface="Calibri" pitchFamily="34" charset="-120"/>
              </a:rPr>
              <a:t>NGN 3.76B in sales across 5,500 transactions, but Electronics &amp; Home Appliances carry the business while Cosmetics &amp; Groceries lag far behind target.</a:t>
            </a:r>
            <a:endParaRPr lang="en-US" sz="920" dirty="0"/>
          </a:p>
        </p:txBody>
      </p:sp>
      <p:sp>
        <p:nvSpPr>
          <p:cNvPr id="11" name="Shape 8"/>
          <p:cNvSpPr/>
          <p:nvPr/>
        </p:nvSpPr>
        <p:spPr>
          <a:xfrm>
            <a:off x="4297680" y="5437124"/>
            <a:ext cx="3611880" cy="868680"/>
          </a:xfrm>
          <a:prstGeom prst="roundRect">
            <a:avLst>
              <a:gd name="adj" fmla="val 6316"/>
            </a:avLst>
          </a:prstGeom>
          <a:solidFill>
            <a:srgbClr val="FFFFFF"/>
          </a:solidFill>
          <a:ln/>
          <a:effectLst>
            <a:outerShdw blurRad="76200" dist="25400" dir="5400000" algn="bl" rotWithShape="0">
              <a:srgbClr val="000000">
                <a:alpha val="10000"/>
              </a:srgbClr>
            </a:outerShdw>
          </a:effectLst>
        </p:spPr>
      </p:sp>
      <p:sp>
        <p:nvSpPr>
          <p:cNvPr id="12" name="Shape 9"/>
          <p:cNvSpPr/>
          <p:nvPr/>
        </p:nvSpPr>
        <p:spPr>
          <a:xfrm>
            <a:off x="4297680" y="5437124"/>
            <a:ext cx="54864" cy="868680"/>
          </a:xfrm>
          <a:prstGeom prst="rect">
            <a:avLst/>
          </a:prstGeom>
          <a:solidFill>
            <a:srgbClr val="1E2761"/>
          </a:solidFill>
          <a:ln/>
        </p:spPr>
      </p:sp>
      <p:sp>
        <p:nvSpPr>
          <p:cNvPr id="13" name="Text 10"/>
          <p:cNvSpPr/>
          <p:nvPr/>
        </p:nvSpPr>
        <p:spPr>
          <a:xfrm>
            <a:off x="4498848" y="5510276"/>
            <a:ext cx="3246120" cy="228600"/>
          </a:xfrm>
          <a:prstGeom prst="rect">
            <a:avLst/>
          </a:prstGeom>
          <a:noFill/>
          <a:ln/>
        </p:spPr>
        <p:txBody>
          <a:bodyPr wrap="square" rtlCol="0" anchor="ctr"/>
          <a:lstStyle/>
          <a:p>
            <a:pPr marL="0" indent="0">
              <a:buNone/>
            </a:pPr>
            <a:r>
              <a:rPr lang="en-US" sz="950" b="1" kern="0" spc="100" dirty="0">
                <a:solidFill>
                  <a:srgbClr val="1E2761"/>
                </a:solidFill>
                <a:latin typeface="Calibri" pitchFamily="34" charset="0"/>
                <a:ea typeface="Calibri" pitchFamily="34" charset="-122"/>
                <a:cs typeface="Calibri" pitchFamily="34" charset="-120"/>
              </a:rPr>
              <a:t>WHY IT MATTERS</a:t>
            </a:r>
            <a:endParaRPr lang="en-US" sz="950" dirty="0"/>
          </a:p>
        </p:txBody>
      </p:sp>
      <p:sp>
        <p:nvSpPr>
          <p:cNvPr id="14" name="Text 11"/>
          <p:cNvSpPr/>
          <p:nvPr/>
        </p:nvSpPr>
        <p:spPr>
          <a:xfrm>
            <a:off x="4498848" y="5729732"/>
            <a:ext cx="3246120" cy="502920"/>
          </a:xfrm>
          <a:prstGeom prst="rect">
            <a:avLst/>
          </a:prstGeom>
          <a:noFill/>
          <a:ln/>
        </p:spPr>
        <p:txBody>
          <a:bodyPr wrap="square" rtlCol="0" anchor="ctr"/>
          <a:lstStyle/>
          <a:p>
            <a:pPr marL="0" indent="0">
              <a:lnSpc>
                <a:spcPct val="108000"/>
              </a:lnSpc>
              <a:buNone/>
            </a:pPr>
            <a:r>
              <a:rPr lang="en-US" sz="920" dirty="0">
                <a:solidFill>
                  <a:srgbClr val="333333"/>
                </a:solidFill>
                <a:latin typeface="Calibri" pitchFamily="34" charset="0"/>
                <a:ea typeface="Calibri" pitchFamily="34" charset="-122"/>
                <a:cs typeface="Calibri" pitchFamily="34" charset="-120"/>
              </a:rPr>
              <a:t>Satisfaction (3.0/5) and return rate (~28%) are flat across categories — this is a revenue concentration risk, not a service-quality problem.</a:t>
            </a:r>
            <a:endParaRPr lang="en-US" sz="920" dirty="0"/>
          </a:p>
        </p:txBody>
      </p:sp>
      <p:sp>
        <p:nvSpPr>
          <p:cNvPr id="15" name="Shape 12"/>
          <p:cNvSpPr/>
          <p:nvPr/>
        </p:nvSpPr>
        <p:spPr>
          <a:xfrm>
            <a:off x="8046720" y="5437124"/>
            <a:ext cx="3611880" cy="868680"/>
          </a:xfrm>
          <a:prstGeom prst="roundRect">
            <a:avLst>
              <a:gd name="adj" fmla="val 6316"/>
            </a:avLst>
          </a:prstGeom>
          <a:solidFill>
            <a:srgbClr val="FFFFFF"/>
          </a:solidFill>
          <a:ln/>
          <a:effectLst>
            <a:outerShdw blurRad="76200" dist="25400" dir="5400000" algn="bl" rotWithShape="0">
              <a:srgbClr val="000000">
                <a:alpha val="10000"/>
              </a:srgbClr>
            </a:outerShdw>
          </a:effectLst>
        </p:spPr>
      </p:sp>
      <p:sp>
        <p:nvSpPr>
          <p:cNvPr id="16" name="Shape 13"/>
          <p:cNvSpPr/>
          <p:nvPr/>
        </p:nvSpPr>
        <p:spPr>
          <a:xfrm>
            <a:off x="8046720" y="5437124"/>
            <a:ext cx="54864" cy="868680"/>
          </a:xfrm>
          <a:prstGeom prst="rect">
            <a:avLst/>
          </a:prstGeom>
          <a:solidFill>
            <a:srgbClr val="2E7D32"/>
          </a:solidFill>
          <a:ln/>
        </p:spPr>
      </p:sp>
      <p:sp>
        <p:nvSpPr>
          <p:cNvPr id="17" name="Text 14"/>
          <p:cNvSpPr/>
          <p:nvPr/>
        </p:nvSpPr>
        <p:spPr>
          <a:xfrm>
            <a:off x="8247888" y="5510276"/>
            <a:ext cx="3246120" cy="228600"/>
          </a:xfrm>
          <a:prstGeom prst="rect">
            <a:avLst/>
          </a:prstGeom>
          <a:noFill/>
          <a:ln/>
        </p:spPr>
        <p:txBody>
          <a:bodyPr wrap="square" rtlCol="0" anchor="ctr"/>
          <a:lstStyle/>
          <a:p>
            <a:pPr marL="0" indent="0">
              <a:buNone/>
            </a:pPr>
            <a:r>
              <a:rPr lang="en-US" sz="950" b="1" kern="0" spc="100" dirty="0">
                <a:solidFill>
                  <a:srgbClr val="2E7D32"/>
                </a:solidFill>
                <a:latin typeface="Calibri" pitchFamily="34" charset="0"/>
                <a:ea typeface="Calibri" pitchFamily="34" charset="-122"/>
                <a:cs typeface="Calibri" pitchFamily="34" charset="-120"/>
              </a:rPr>
              <a:t>WHAT TO DO</a:t>
            </a:r>
            <a:endParaRPr lang="en-US" sz="950" dirty="0"/>
          </a:p>
        </p:txBody>
      </p:sp>
      <p:sp>
        <p:nvSpPr>
          <p:cNvPr id="18" name="Text 15"/>
          <p:cNvSpPr/>
          <p:nvPr/>
        </p:nvSpPr>
        <p:spPr>
          <a:xfrm>
            <a:off x="8247888" y="5729732"/>
            <a:ext cx="3246120" cy="502920"/>
          </a:xfrm>
          <a:prstGeom prst="rect">
            <a:avLst/>
          </a:prstGeom>
          <a:noFill/>
          <a:ln/>
        </p:spPr>
        <p:txBody>
          <a:bodyPr wrap="square" rtlCol="0" anchor="ctr"/>
          <a:lstStyle/>
          <a:p>
            <a:pPr marL="0" indent="0">
              <a:lnSpc>
                <a:spcPct val="108000"/>
              </a:lnSpc>
              <a:buNone/>
            </a:pPr>
            <a:r>
              <a:rPr lang="en-US" sz="920" dirty="0">
                <a:solidFill>
                  <a:srgbClr val="333333"/>
                </a:solidFill>
                <a:latin typeface="Calibri" pitchFamily="34" charset="0"/>
                <a:ea typeface="Calibri" pitchFamily="34" charset="-122"/>
                <a:cs typeface="Calibri" pitchFamily="34" charset="-120"/>
              </a:rPr>
              <a:t>Re-balance category targets and replicate Port Harcourt's and Abuja Central's basket-building approach across the lagging branches.</a:t>
            </a:r>
            <a:endParaRPr lang="en-US" sz="920" dirty="0"/>
          </a:p>
        </p:txBody>
      </p:sp>
      <p:sp>
        <p:nvSpPr>
          <p:cNvPr id="19" name="Text 16"/>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20" name="Text 17"/>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VISUALIZATION 1 OF 4 — BAR CHART</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Branch Performance Ranking</a:t>
            </a:r>
            <a:endParaRPr lang="en-US" sz="2800" dirty="0"/>
          </a:p>
        </p:txBody>
      </p:sp>
      <p:graphicFrame>
        <p:nvGraphicFramePr>
          <p:cNvPr id="4" name="Chart 0"/>
          <p:cNvGraphicFramePr/>
          <p:nvPr/>
        </p:nvGraphicFramePr>
        <p:xfrm>
          <a:off x="548640" y="1463040"/>
          <a:ext cx="64008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223760" y="1463040"/>
            <a:ext cx="4434840" cy="1234440"/>
          </a:xfrm>
          <a:prstGeom prst="roundRect">
            <a:avLst>
              <a:gd name="adj" fmla="val 5185"/>
            </a:avLst>
          </a:prstGeom>
          <a:solidFill>
            <a:srgbClr val="EAF3EC"/>
          </a:solidFill>
          <a:ln/>
        </p:spPr>
      </p:sp>
      <p:pic>
        <p:nvPicPr>
          <p:cNvPr id="6" name="Image 0" descr="/home/claude/build/icons/trophy_navy.png"/>
          <p:cNvPicPr>
            <a:picLocks noChangeAspect="1"/>
          </p:cNvPicPr>
          <p:nvPr/>
        </p:nvPicPr>
        <p:blipFill>
          <a:blip r:embed="rId4"/>
          <a:stretch>
            <a:fillRect/>
          </a:stretch>
        </p:blipFill>
        <p:spPr>
          <a:xfrm>
            <a:off x="7406640" y="1673352"/>
            <a:ext cx="457200" cy="457200"/>
          </a:xfrm>
          <a:prstGeom prst="rect">
            <a:avLst/>
          </a:prstGeom>
        </p:spPr>
      </p:pic>
      <p:sp>
        <p:nvSpPr>
          <p:cNvPr id="7" name="Text 3"/>
          <p:cNvSpPr/>
          <p:nvPr/>
        </p:nvSpPr>
        <p:spPr>
          <a:xfrm>
            <a:off x="8001000" y="1627632"/>
            <a:ext cx="3566160" cy="256032"/>
          </a:xfrm>
          <a:prstGeom prst="rect">
            <a:avLst/>
          </a:prstGeom>
          <a:noFill/>
          <a:ln/>
        </p:spPr>
        <p:txBody>
          <a:bodyPr wrap="square" rtlCol="0" anchor="ctr"/>
          <a:lstStyle/>
          <a:p>
            <a:pPr marL="0" indent="0">
              <a:buNone/>
            </a:pPr>
            <a:r>
              <a:rPr lang="en-US" sz="1000" b="1" kern="0" spc="100" dirty="0">
                <a:solidFill>
                  <a:srgbClr val="2E7D32"/>
                </a:solidFill>
                <a:latin typeface="Calibri" pitchFamily="34" charset="0"/>
                <a:ea typeface="Calibri" pitchFamily="34" charset="-122"/>
                <a:cs typeface="Calibri" pitchFamily="34" charset="-120"/>
              </a:rPr>
              <a:t>HIGHEST REVENUE</a:t>
            </a:r>
            <a:endParaRPr lang="en-US" sz="1000" dirty="0"/>
          </a:p>
        </p:txBody>
      </p:sp>
      <p:sp>
        <p:nvSpPr>
          <p:cNvPr id="8" name="Text 4"/>
          <p:cNvSpPr/>
          <p:nvPr/>
        </p:nvSpPr>
        <p:spPr>
          <a:xfrm>
            <a:off x="8001000" y="1874520"/>
            <a:ext cx="356616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Port Harcourt — NGN 861.7M (112.4% of target)</a:t>
            </a:r>
            <a:endParaRPr lang="en-US" sz="1300" dirty="0"/>
          </a:p>
        </p:txBody>
      </p:sp>
      <p:sp>
        <p:nvSpPr>
          <p:cNvPr id="9" name="Text 5"/>
          <p:cNvSpPr/>
          <p:nvPr/>
        </p:nvSpPr>
        <p:spPr>
          <a:xfrm>
            <a:off x="8001000" y="2176272"/>
            <a:ext cx="3566160" cy="457200"/>
          </a:xfrm>
          <a:prstGeom prst="rect">
            <a:avLst/>
          </a:prstGeom>
          <a:noFill/>
          <a:ln/>
        </p:spPr>
        <p:txBody>
          <a:bodyPr wrap="square" rtlCol="0" anchor="ctr"/>
          <a:lstStyle/>
          <a:p>
            <a:pPr marL="0" indent="0">
              <a:lnSpc>
                <a:spcPct val="105000"/>
              </a:lnSpc>
              <a:buNone/>
            </a:pPr>
            <a:r>
              <a:rPr lang="en-US" sz="1000" dirty="0">
                <a:solidFill>
                  <a:srgbClr val="333333"/>
                </a:solidFill>
                <a:latin typeface="Calibri" pitchFamily="34" charset="0"/>
                <a:ea typeface="Calibri" pitchFamily="34" charset="-122"/>
                <a:cs typeface="Calibri" pitchFamily="34" charset="-120"/>
              </a:rPr>
              <a:t>Highest absolute sales and the only branch combining scale with double-digit target overshoot.</a:t>
            </a:r>
            <a:endParaRPr lang="en-US" sz="1000" dirty="0"/>
          </a:p>
        </p:txBody>
      </p:sp>
      <p:sp>
        <p:nvSpPr>
          <p:cNvPr id="10" name="Shape 6"/>
          <p:cNvSpPr/>
          <p:nvPr/>
        </p:nvSpPr>
        <p:spPr>
          <a:xfrm>
            <a:off x="7223760" y="2834640"/>
            <a:ext cx="4434840" cy="1234440"/>
          </a:xfrm>
          <a:prstGeom prst="roundRect">
            <a:avLst>
              <a:gd name="adj" fmla="val 5185"/>
            </a:avLst>
          </a:prstGeom>
          <a:solidFill>
            <a:srgbClr val="FBEAEA"/>
          </a:solidFill>
          <a:ln/>
        </p:spPr>
      </p:sp>
      <p:pic>
        <p:nvPicPr>
          <p:cNvPr id="11" name="Image 1" descr="/home/claude/build/icons/arrowdown_red.png"/>
          <p:cNvPicPr>
            <a:picLocks noChangeAspect="1"/>
          </p:cNvPicPr>
          <p:nvPr/>
        </p:nvPicPr>
        <p:blipFill>
          <a:blip r:embed="rId5"/>
          <a:stretch>
            <a:fillRect/>
          </a:stretch>
        </p:blipFill>
        <p:spPr>
          <a:xfrm>
            <a:off x="7406640" y="3044952"/>
            <a:ext cx="457200" cy="457200"/>
          </a:xfrm>
          <a:prstGeom prst="rect">
            <a:avLst/>
          </a:prstGeom>
        </p:spPr>
      </p:pic>
      <p:sp>
        <p:nvSpPr>
          <p:cNvPr id="12" name="Text 7"/>
          <p:cNvSpPr/>
          <p:nvPr/>
        </p:nvSpPr>
        <p:spPr>
          <a:xfrm>
            <a:off x="8001000" y="2999232"/>
            <a:ext cx="3566160" cy="256032"/>
          </a:xfrm>
          <a:prstGeom prst="rect">
            <a:avLst/>
          </a:prstGeom>
          <a:noFill/>
          <a:ln/>
        </p:spPr>
        <p:txBody>
          <a:bodyPr wrap="square" rtlCol="0" anchor="ctr"/>
          <a:lstStyle/>
          <a:p>
            <a:pPr marL="0" indent="0">
              <a:buNone/>
            </a:pPr>
            <a:r>
              <a:rPr lang="en-US" sz="1000" b="1" kern="0" spc="100" dirty="0">
                <a:solidFill>
                  <a:srgbClr val="C00000"/>
                </a:solidFill>
                <a:latin typeface="Calibri" pitchFamily="34" charset="0"/>
                <a:ea typeface="Calibri" pitchFamily="34" charset="-122"/>
                <a:cs typeface="Calibri" pitchFamily="34" charset="-120"/>
              </a:rPr>
              <a:t>LOWEST REVENUE</a:t>
            </a:r>
            <a:endParaRPr lang="en-US" sz="1000" dirty="0"/>
          </a:p>
        </p:txBody>
      </p:sp>
      <p:sp>
        <p:nvSpPr>
          <p:cNvPr id="13" name="Text 8"/>
          <p:cNvSpPr/>
          <p:nvPr/>
        </p:nvSpPr>
        <p:spPr>
          <a:xfrm>
            <a:off x="8001000" y="3246120"/>
            <a:ext cx="356616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Kano — NGN 646.6M (smallest branch by sales)</a:t>
            </a:r>
            <a:endParaRPr lang="en-US" sz="1300" dirty="0"/>
          </a:p>
        </p:txBody>
      </p:sp>
      <p:sp>
        <p:nvSpPr>
          <p:cNvPr id="14" name="Text 9"/>
          <p:cNvSpPr/>
          <p:nvPr/>
        </p:nvSpPr>
        <p:spPr>
          <a:xfrm>
            <a:off x="8001000" y="3547872"/>
            <a:ext cx="3566160" cy="457200"/>
          </a:xfrm>
          <a:prstGeom prst="rect">
            <a:avLst/>
          </a:prstGeom>
          <a:noFill/>
          <a:ln/>
        </p:spPr>
        <p:txBody>
          <a:bodyPr wrap="square" rtlCol="0" anchor="ctr"/>
          <a:lstStyle/>
          <a:p>
            <a:pPr marL="0" indent="0">
              <a:lnSpc>
                <a:spcPct val="105000"/>
              </a:lnSpc>
              <a:buNone/>
            </a:pPr>
            <a:r>
              <a:rPr lang="en-US" sz="950" dirty="0">
                <a:solidFill>
                  <a:srgbClr val="333333"/>
                </a:solidFill>
                <a:latin typeface="Calibri" pitchFamily="34" charset="0"/>
                <a:ea typeface="Calibri" pitchFamily="34" charset="-122"/>
                <a:cs typeface="Calibri" pitchFamily="34" charset="-120"/>
              </a:rPr>
              <a:t>Lowest absolute sales — but Kano still hits 100.6% of its own (smaller) target. The branch most behind its target is Lagos Island at 97.6% — see callout below.</a:t>
            </a:r>
            <a:endParaRPr lang="en-US" sz="950" dirty="0"/>
          </a:p>
        </p:txBody>
      </p:sp>
      <p:sp>
        <p:nvSpPr>
          <p:cNvPr id="15" name="Shape 10"/>
          <p:cNvSpPr/>
          <p:nvPr/>
        </p:nvSpPr>
        <p:spPr>
          <a:xfrm>
            <a:off x="7223760" y="4206240"/>
            <a:ext cx="4434840" cy="1737360"/>
          </a:xfrm>
          <a:prstGeom prst="roundRect">
            <a:avLst>
              <a:gd name="adj" fmla="val 3684"/>
            </a:avLst>
          </a:prstGeom>
          <a:solidFill>
            <a:srgbClr val="E8EBF7"/>
          </a:solidFill>
          <a:ln/>
        </p:spPr>
      </p:sp>
      <p:sp>
        <p:nvSpPr>
          <p:cNvPr id="16" name="Text 11"/>
          <p:cNvSpPr/>
          <p:nvPr/>
        </p:nvSpPr>
        <p:spPr>
          <a:xfrm>
            <a:off x="7452360" y="4370832"/>
            <a:ext cx="4023360" cy="256032"/>
          </a:xfrm>
          <a:prstGeom prst="rect">
            <a:avLst/>
          </a:prstGeom>
          <a:noFill/>
          <a:ln/>
        </p:spPr>
        <p:txBody>
          <a:bodyPr wrap="square" rtlCol="0" anchor="ctr"/>
          <a:lstStyle/>
          <a:p>
            <a:pPr marL="0" indent="0">
              <a:buNone/>
            </a:pPr>
            <a:r>
              <a:rPr lang="en-US" sz="1000" b="1" kern="0" spc="100" dirty="0">
                <a:solidFill>
                  <a:srgbClr val="1E2761"/>
                </a:solidFill>
                <a:latin typeface="Calibri" pitchFamily="34" charset="0"/>
                <a:ea typeface="Calibri" pitchFamily="34" charset="-122"/>
                <a:cs typeface="Calibri" pitchFamily="34" charset="-120"/>
              </a:rPr>
              <a:t>REVENUE GAP (TOP VS. BOTTOM)</a:t>
            </a:r>
            <a:endParaRPr lang="en-US" sz="1000" dirty="0"/>
          </a:p>
        </p:txBody>
      </p:sp>
      <p:sp>
        <p:nvSpPr>
          <p:cNvPr id="17" name="Text 12"/>
          <p:cNvSpPr/>
          <p:nvPr/>
        </p:nvSpPr>
        <p:spPr>
          <a:xfrm>
            <a:off x="7452360" y="4590288"/>
            <a:ext cx="4023360" cy="457200"/>
          </a:xfrm>
          <a:prstGeom prst="rect">
            <a:avLst/>
          </a:prstGeom>
          <a:noFill/>
          <a:ln/>
        </p:spPr>
        <p:txBody>
          <a:bodyPr wrap="square" rtlCol="0" anchor="ctr"/>
          <a:lstStyle/>
          <a:p>
            <a:pPr marL="0" indent="0">
              <a:buNone/>
            </a:pPr>
            <a:r>
              <a:rPr lang="en-US" sz="2600" b="1" dirty="0">
                <a:solidFill>
                  <a:srgbClr val="C00000"/>
                </a:solidFill>
                <a:latin typeface="Calibri" pitchFamily="34" charset="0"/>
                <a:ea typeface="Calibri" pitchFamily="34" charset="-122"/>
                <a:cs typeface="Calibri" pitchFamily="34" charset="-120"/>
              </a:rPr>
              <a:t>NGN 215.1M</a:t>
            </a:r>
            <a:endParaRPr lang="en-US" sz="2600" dirty="0"/>
          </a:p>
        </p:txBody>
      </p:sp>
      <p:sp>
        <p:nvSpPr>
          <p:cNvPr id="18" name="Text 13"/>
          <p:cNvSpPr/>
          <p:nvPr/>
        </p:nvSpPr>
        <p:spPr>
          <a:xfrm>
            <a:off x="7452360" y="5074920"/>
            <a:ext cx="4023360" cy="868680"/>
          </a:xfrm>
          <a:prstGeom prst="rect">
            <a:avLst/>
          </a:prstGeom>
          <a:noFill/>
          <a:ln/>
        </p:spPr>
        <p:txBody>
          <a:bodyPr wrap="square" rtlCol="0" anchor="ctr"/>
          <a:lstStyle/>
          <a:p>
            <a:pPr marL="0" indent="0">
              <a:lnSpc>
                <a:spcPct val="110000"/>
              </a:lnSpc>
              <a:buNone/>
            </a:pPr>
            <a:r>
              <a:rPr lang="en-US" sz="1050" dirty="0">
                <a:solidFill>
                  <a:srgbClr val="333333"/>
                </a:solidFill>
                <a:latin typeface="Calibri" pitchFamily="34" charset="0"/>
                <a:ea typeface="Calibri" pitchFamily="34" charset="-122"/>
                <a:cs typeface="Calibri" pitchFamily="34" charset="-120"/>
              </a:rPr>
              <a:t>gap between Port Harcourt (highest revenue) and Kano (lowest revenue). Note this is a scale gap, not a target-achievement gap — Kano is meeting its own target; Lagos Island is the branch missing target (97.6%).</a:t>
            </a:r>
            <a:endParaRPr lang="en-US" sz="1050" dirty="0"/>
          </a:p>
        </p:txBody>
      </p:sp>
      <p:sp>
        <p:nvSpPr>
          <p:cNvPr id="19" name="Shape 14"/>
          <p:cNvSpPr/>
          <p:nvPr/>
        </p:nvSpPr>
        <p:spPr>
          <a:xfrm>
            <a:off x="548640" y="6080760"/>
            <a:ext cx="11109960" cy="502920"/>
          </a:xfrm>
          <a:prstGeom prst="roundRect">
            <a:avLst>
              <a:gd name="adj" fmla="val 9091"/>
            </a:avLst>
          </a:prstGeom>
          <a:solidFill>
            <a:srgbClr val="1E2761"/>
          </a:solidFill>
          <a:ln/>
        </p:spPr>
      </p:sp>
      <p:sp>
        <p:nvSpPr>
          <p:cNvPr id="20" name="Text 15"/>
          <p:cNvSpPr/>
          <p:nvPr/>
        </p:nvSpPr>
        <p:spPr>
          <a:xfrm>
            <a:off x="777240" y="6080760"/>
            <a:ext cx="10698480" cy="502920"/>
          </a:xfrm>
          <a:prstGeom prst="rect">
            <a:avLst/>
          </a:prstGeom>
          <a:noFill/>
          <a:ln/>
        </p:spPr>
        <p:txBody>
          <a:bodyPr wrap="square" rtlCol="0" anchor="ctr"/>
          <a:lstStyle/>
          <a:p>
            <a:pPr marL="0" indent="0">
              <a:buNone/>
            </a:pPr>
            <a:r>
              <a:rPr lang="en-US" sz="1100" b="1" dirty="0">
                <a:solidFill>
                  <a:srgbClr val="FFB3AB"/>
                </a:solidFill>
                <a:latin typeface="Calibri" pitchFamily="34" charset="0"/>
                <a:ea typeface="Calibri" pitchFamily="34" charset="-122"/>
                <a:cs typeface="Calibri" pitchFamily="34" charset="-120"/>
              </a:rPr>
              <a:t>So what: </a:t>
            </a:r>
            <a:r>
              <a:rPr lang="en-US" sz="1100" dirty="0">
                <a:solidFill>
                  <a:srgbClr val="FFFFFF"/>
                </a:solidFill>
                <a:latin typeface="Calibri" pitchFamily="34" charset="0"/>
                <a:ea typeface="Calibri" pitchFamily="34" charset="-122"/>
                <a:cs typeface="Calibri" pitchFamily="34" charset="-120"/>
              </a:rPr>
              <a:t>revenue scale (Kano) and target achievement (Lagos Island) are two different problems — Kano needs growth investment as it matures, while Lagos Island needs a conversion/execution fix.</a:t>
            </a:r>
            <a:endParaRPr lang="en-US" sz="1100" dirty="0"/>
          </a:p>
        </p:txBody>
      </p:sp>
      <p:sp>
        <p:nvSpPr>
          <p:cNvPr id="21" name="Text 16"/>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22" name="Text 17"/>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VISUALIZATION 2 OF 4 — LINE CHART</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Two-Year Sales Trend Analysis</a:t>
            </a:r>
            <a:endParaRPr lang="en-US" sz="2800" dirty="0"/>
          </a:p>
        </p:txBody>
      </p:sp>
      <p:graphicFrame>
        <p:nvGraphicFramePr>
          <p:cNvPr id="4" name="Chart 0"/>
          <p:cNvGraphicFramePr/>
          <p:nvPr/>
        </p:nvGraphicFramePr>
        <p:xfrm>
          <a:off x="548640" y="1417320"/>
          <a:ext cx="1110996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48640" y="5166360"/>
            <a:ext cx="3611880" cy="1325880"/>
          </a:xfrm>
          <a:prstGeom prst="roundRect">
            <a:avLst>
              <a:gd name="adj" fmla="val 4138"/>
            </a:avLst>
          </a:prstGeom>
          <a:solidFill>
            <a:srgbClr val="F4F4F6"/>
          </a:solidFill>
          <a:ln/>
        </p:spPr>
      </p:sp>
      <p:sp>
        <p:nvSpPr>
          <p:cNvPr id="6" name="Text 3"/>
          <p:cNvSpPr/>
          <p:nvPr/>
        </p:nvSpPr>
        <p:spPr>
          <a:xfrm>
            <a:off x="731520" y="5285232"/>
            <a:ext cx="3246120" cy="256032"/>
          </a:xfrm>
          <a:prstGeom prst="rect">
            <a:avLst/>
          </a:prstGeom>
          <a:noFill/>
          <a:ln/>
        </p:spPr>
        <p:txBody>
          <a:bodyPr wrap="square" rtlCol="0" anchor="ctr"/>
          <a:lstStyle/>
          <a:p>
            <a:pPr marL="0" indent="0">
              <a:buNone/>
            </a:pPr>
            <a:r>
              <a:rPr lang="en-US" sz="950" b="1" kern="0" spc="50" dirty="0">
                <a:solidFill>
                  <a:srgbClr val="C00000"/>
                </a:solidFill>
                <a:latin typeface="Calibri" pitchFamily="34" charset="0"/>
                <a:ea typeface="Calibri" pitchFamily="34" charset="-122"/>
                <a:cs typeface="Calibri" pitchFamily="34" charset="-120"/>
              </a:rPr>
              <a:t>FY2023 → FY2024 GROWTH</a:t>
            </a:r>
            <a:endParaRPr lang="en-US" sz="950" dirty="0"/>
          </a:p>
        </p:txBody>
      </p:sp>
      <p:sp>
        <p:nvSpPr>
          <p:cNvPr id="7" name="Text 4"/>
          <p:cNvSpPr/>
          <p:nvPr/>
        </p:nvSpPr>
        <p:spPr>
          <a:xfrm>
            <a:off x="731520" y="5504688"/>
            <a:ext cx="324612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+3.1%</a:t>
            </a:r>
            <a:endParaRPr lang="en-US" sz="1800" dirty="0"/>
          </a:p>
        </p:txBody>
      </p:sp>
      <p:sp>
        <p:nvSpPr>
          <p:cNvPr id="8" name="Text 5"/>
          <p:cNvSpPr/>
          <p:nvPr/>
        </p:nvSpPr>
        <p:spPr>
          <a:xfrm>
            <a:off x="731520" y="5870448"/>
            <a:ext cx="3246120" cy="548640"/>
          </a:xfrm>
          <a:prstGeom prst="rect">
            <a:avLst/>
          </a:prstGeom>
          <a:noFill/>
          <a:ln/>
        </p:spPr>
        <p:txBody>
          <a:bodyPr wrap="square" rtlCol="0" anchor="ctr"/>
          <a:lstStyle/>
          <a:p>
            <a:pPr marL="0" indent="0">
              <a:lnSpc>
                <a:spcPct val="105000"/>
              </a:lnSpc>
              <a:buNone/>
            </a:pPr>
            <a:r>
              <a:rPr lang="en-US" sz="950" dirty="0">
                <a:solidFill>
                  <a:srgbClr val="333333"/>
                </a:solidFill>
                <a:latin typeface="Calibri" pitchFamily="34" charset="0"/>
                <a:ea typeface="Calibri" pitchFamily="34" charset="-122"/>
                <a:cs typeface="Calibri" pitchFamily="34" charset="-120"/>
              </a:rPr>
              <a:t>Flat overall growth (NGN 1.85B → NGN 1.91B) — expansion is not translating into a clear group-wide upward trend.</a:t>
            </a:r>
            <a:endParaRPr lang="en-US" sz="950" dirty="0"/>
          </a:p>
        </p:txBody>
      </p:sp>
      <p:sp>
        <p:nvSpPr>
          <p:cNvPr id="9" name="Shape 6"/>
          <p:cNvSpPr/>
          <p:nvPr/>
        </p:nvSpPr>
        <p:spPr>
          <a:xfrm>
            <a:off x="4297680" y="5166360"/>
            <a:ext cx="3611880" cy="1325880"/>
          </a:xfrm>
          <a:prstGeom prst="roundRect">
            <a:avLst>
              <a:gd name="adj" fmla="val 4138"/>
            </a:avLst>
          </a:prstGeom>
          <a:solidFill>
            <a:srgbClr val="F4F4F6"/>
          </a:solidFill>
          <a:ln/>
        </p:spPr>
      </p:sp>
      <p:sp>
        <p:nvSpPr>
          <p:cNvPr id="10" name="Text 7"/>
          <p:cNvSpPr/>
          <p:nvPr/>
        </p:nvSpPr>
        <p:spPr>
          <a:xfrm>
            <a:off x="4480560" y="5285232"/>
            <a:ext cx="3246120" cy="256032"/>
          </a:xfrm>
          <a:prstGeom prst="rect">
            <a:avLst/>
          </a:prstGeom>
          <a:noFill/>
          <a:ln/>
        </p:spPr>
        <p:txBody>
          <a:bodyPr wrap="square" rtlCol="0" anchor="ctr"/>
          <a:lstStyle/>
          <a:p>
            <a:pPr marL="0" indent="0">
              <a:buNone/>
            </a:pPr>
            <a:r>
              <a:rPr lang="en-US" sz="950" b="1" kern="0" spc="50" dirty="0">
                <a:solidFill>
                  <a:srgbClr val="C00000"/>
                </a:solidFill>
                <a:latin typeface="Calibri" pitchFamily="34" charset="0"/>
                <a:ea typeface="Calibri" pitchFamily="34" charset="-122"/>
                <a:cs typeface="Calibri" pitchFamily="34" charset="-120"/>
              </a:rPr>
              <a:t>PEAK MONTHS</a:t>
            </a:r>
            <a:endParaRPr lang="en-US" sz="950" dirty="0"/>
          </a:p>
        </p:txBody>
      </p:sp>
      <p:sp>
        <p:nvSpPr>
          <p:cNvPr id="11" name="Text 8"/>
          <p:cNvSpPr/>
          <p:nvPr/>
        </p:nvSpPr>
        <p:spPr>
          <a:xfrm>
            <a:off x="4480560" y="5504688"/>
            <a:ext cx="324612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Aug &amp; Jan</a:t>
            </a:r>
            <a:endParaRPr lang="en-US" sz="1800" dirty="0"/>
          </a:p>
        </p:txBody>
      </p:sp>
      <p:sp>
        <p:nvSpPr>
          <p:cNvPr id="12" name="Text 9"/>
          <p:cNvSpPr/>
          <p:nvPr/>
        </p:nvSpPr>
        <p:spPr>
          <a:xfrm>
            <a:off x="4480560" y="5870448"/>
            <a:ext cx="3246120" cy="548640"/>
          </a:xfrm>
          <a:prstGeom prst="rect">
            <a:avLst/>
          </a:prstGeom>
          <a:noFill/>
          <a:ln/>
        </p:spPr>
        <p:txBody>
          <a:bodyPr wrap="square" rtlCol="0" anchor="ctr"/>
          <a:lstStyle/>
          <a:p>
            <a:pPr marL="0" indent="0">
              <a:lnSpc>
                <a:spcPct val="105000"/>
              </a:lnSpc>
              <a:buNone/>
            </a:pPr>
            <a:r>
              <a:rPr lang="en-US" sz="950" dirty="0">
                <a:solidFill>
                  <a:srgbClr val="333333"/>
                </a:solidFill>
                <a:latin typeface="Calibri" pitchFamily="34" charset="0"/>
                <a:ea typeface="Calibri" pitchFamily="34" charset="-122"/>
                <a:cs typeface="Calibri" pitchFamily="34" charset="-120"/>
              </a:rPr>
              <a:t>August 2024 (NGN 189.4M) and January 2024 (NGN 186.3M) are the strongest months — back-to-school/Q1 restocking and New Year demand.</a:t>
            </a:r>
            <a:endParaRPr lang="en-US" sz="950" dirty="0"/>
          </a:p>
        </p:txBody>
      </p:sp>
      <p:sp>
        <p:nvSpPr>
          <p:cNvPr id="13" name="Shape 10"/>
          <p:cNvSpPr/>
          <p:nvPr/>
        </p:nvSpPr>
        <p:spPr>
          <a:xfrm>
            <a:off x="8046720" y="5166360"/>
            <a:ext cx="3611880" cy="1325880"/>
          </a:xfrm>
          <a:prstGeom prst="roundRect">
            <a:avLst>
              <a:gd name="adj" fmla="val 4138"/>
            </a:avLst>
          </a:prstGeom>
          <a:solidFill>
            <a:srgbClr val="F4F4F6"/>
          </a:solidFill>
          <a:ln/>
        </p:spPr>
      </p:sp>
      <p:sp>
        <p:nvSpPr>
          <p:cNvPr id="14" name="Text 11"/>
          <p:cNvSpPr/>
          <p:nvPr/>
        </p:nvSpPr>
        <p:spPr>
          <a:xfrm>
            <a:off x="8229600" y="5285232"/>
            <a:ext cx="3246120" cy="256032"/>
          </a:xfrm>
          <a:prstGeom prst="rect">
            <a:avLst/>
          </a:prstGeom>
          <a:noFill/>
          <a:ln/>
        </p:spPr>
        <p:txBody>
          <a:bodyPr wrap="square" rtlCol="0" anchor="ctr"/>
          <a:lstStyle/>
          <a:p>
            <a:pPr marL="0" indent="0">
              <a:buNone/>
            </a:pPr>
            <a:r>
              <a:rPr lang="en-US" sz="950" b="1" kern="0" spc="50" dirty="0">
                <a:solidFill>
                  <a:srgbClr val="C00000"/>
                </a:solidFill>
                <a:latin typeface="Calibri" pitchFamily="34" charset="0"/>
                <a:ea typeface="Calibri" pitchFamily="34" charset="-122"/>
                <a:cs typeface="Calibri" pitchFamily="34" charset="-120"/>
              </a:rPr>
              <a:t>SOFTEST MONTHS</a:t>
            </a:r>
            <a:endParaRPr lang="en-US" sz="950" dirty="0"/>
          </a:p>
        </p:txBody>
      </p:sp>
      <p:sp>
        <p:nvSpPr>
          <p:cNvPr id="15" name="Text 12"/>
          <p:cNvSpPr/>
          <p:nvPr/>
        </p:nvSpPr>
        <p:spPr>
          <a:xfrm>
            <a:off x="8229600" y="5504688"/>
            <a:ext cx="324612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Jun &amp; Mar</a:t>
            </a:r>
            <a:endParaRPr lang="en-US" sz="1800" dirty="0"/>
          </a:p>
        </p:txBody>
      </p:sp>
      <p:sp>
        <p:nvSpPr>
          <p:cNvPr id="16" name="Text 13"/>
          <p:cNvSpPr/>
          <p:nvPr/>
        </p:nvSpPr>
        <p:spPr>
          <a:xfrm>
            <a:off x="8229600" y="5870448"/>
            <a:ext cx="3246120" cy="548640"/>
          </a:xfrm>
          <a:prstGeom prst="rect">
            <a:avLst/>
          </a:prstGeom>
          <a:noFill/>
          <a:ln/>
        </p:spPr>
        <p:txBody>
          <a:bodyPr wrap="square" rtlCol="0" anchor="ctr"/>
          <a:lstStyle/>
          <a:p>
            <a:pPr marL="0" indent="0">
              <a:lnSpc>
                <a:spcPct val="105000"/>
              </a:lnSpc>
              <a:buNone/>
            </a:pPr>
            <a:r>
              <a:rPr lang="en-US" sz="950" dirty="0">
                <a:solidFill>
                  <a:srgbClr val="333333"/>
                </a:solidFill>
                <a:latin typeface="Calibri" pitchFamily="34" charset="0"/>
                <a:ea typeface="Calibri" pitchFamily="34" charset="-122"/>
                <a:cs typeface="Calibri" pitchFamily="34" charset="-120"/>
              </a:rPr>
              <a:t>June and March show recurring dips both years — a consistent mid-quarter lull worth targeting with promotions.</a:t>
            </a:r>
            <a:endParaRPr lang="en-US" sz="950" dirty="0"/>
          </a:p>
        </p:txBody>
      </p:sp>
      <p:sp>
        <p:nvSpPr>
          <p:cNvPr id="17" name="Text 14"/>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18" name="Text 15"/>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VISUALIZATION 3 OF 4 — DONUT CHART</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Branch Contribution to Total Sales</a:t>
            </a:r>
            <a:endParaRPr lang="en-US" sz="2800" dirty="0"/>
          </a:p>
        </p:txBody>
      </p:sp>
      <p:graphicFrame>
        <p:nvGraphicFramePr>
          <p:cNvPr id="4" name="Chart 0"/>
          <p:cNvGraphicFramePr/>
          <p:nvPr>
            <p:extLst>
              <p:ext uri="{D42A27DB-BD31-4B8C-83A1-F6EECF244321}">
                <p14:modId xmlns:p14="http://schemas.microsoft.com/office/powerpoint/2010/main" val="214777113"/>
              </p:ext>
            </p:extLst>
          </p:nvPr>
        </p:nvGraphicFramePr>
        <p:xfrm>
          <a:off x="457200" y="1417320"/>
          <a:ext cx="58521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537960" y="1508760"/>
            <a:ext cx="512064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What this means for management:</a:t>
            </a:r>
            <a:endParaRPr lang="en-US" sz="1400" dirty="0"/>
          </a:p>
        </p:txBody>
      </p:sp>
      <p:sp>
        <p:nvSpPr>
          <p:cNvPr id="6" name="Shape 3"/>
          <p:cNvSpPr/>
          <p:nvPr/>
        </p:nvSpPr>
        <p:spPr>
          <a:xfrm>
            <a:off x="6537960" y="2011680"/>
            <a:ext cx="128016" cy="128016"/>
          </a:xfrm>
          <a:prstGeom prst="ellipse">
            <a:avLst/>
          </a:prstGeom>
          <a:solidFill>
            <a:srgbClr val="C00000"/>
          </a:solidFill>
          <a:ln/>
        </p:spPr>
      </p:sp>
      <p:sp>
        <p:nvSpPr>
          <p:cNvPr id="7" name="Text 4"/>
          <p:cNvSpPr/>
          <p:nvPr/>
        </p:nvSpPr>
        <p:spPr>
          <a:xfrm>
            <a:off x="6812280" y="1965960"/>
            <a:ext cx="4846320"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Balanced base, but concentration risk is rising</a:t>
            </a:r>
            <a:endParaRPr lang="en-US" sz="1250" dirty="0"/>
          </a:p>
        </p:txBody>
      </p:sp>
      <p:sp>
        <p:nvSpPr>
          <p:cNvPr id="8" name="Text 5"/>
          <p:cNvSpPr/>
          <p:nvPr/>
        </p:nvSpPr>
        <p:spPr>
          <a:xfrm>
            <a:off x="6812280" y="2276856"/>
            <a:ext cx="4846320" cy="77724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The top 2 branches (Port Harcourt 22.9%, Abuja Central 20.4%) generate over 43% of group revenue — no single branch dominates, but a disruption at Port Harcourt would be the single hardest hit to absorb.</a:t>
            </a:r>
            <a:endParaRPr lang="en-US" sz="1100" dirty="0"/>
          </a:p>
        </p:txBody>
      </p:sp>
      <p:sp>
        <p:nvSpPr>
          <p:cNvPr id="9" name="Shape 6"/>
          <p:cNvSpPr/>
          <p:nvPr/>
        </p:nvSpPr>
        <p:spPr>
          <a:xfrm>
            <a:off x="6537960" y="3246120"/>
            <a:ext cx="128016" cy="128016"/>
          </a:xfrm>
          <a:prstGeom prst="ellipse">
            <a:avLst/>
          </a:prstGeom>
          <a:solidFill>
            <a:srgbClr val="C00000"/>
          </a:solidFill>
          <a:ln/>
        </p:spPr>
      </p:sp>
      <p:sp>
        <p:nvSpPr>
          <p:cNvPr id="10" name="Text 7"/>
          <p:cNvSpPr/>
          <p:nvPr/>
        </p:nvSpPr>
        <p:spPr>
          <a:xfrm>
            <a:off x="6812280" y="3200400"/>
            <a:ext cx="4846320"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Kano is structurally the smallest contributor</a:t>
            </a:r>
            <a:endParaRPr lang="en-US" sz="1250" dirty="0"/>
          </a:p>
        </p:txBody>
      </p:sp>
      <p:sp>
        <p:nvSpPr>
          <p:cNvPr id="11" name="Text 8"/>
          <p:cNvSpPr/>
          <p:nvPr/>
        </p:nvSpPr>
        <p:spPr>
          <a:xfrm>
            <a:off x="6812280" y="3511296"/>
            <a:ext cx="4846320" cy="77724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At 17.2% of group sales — the lowest share — Kano warrants a closer look at whether this reflects market size, later branch maturity (opened 2021), or an execution gap.</a:t>
            </a:r>
            <a:endParaRPr lang="en-US" sz="1100" dirty="0"/>
          </a:p>
        </p:txBody>
      </p:sp>
      <p:sp>
        <p:nvSpPr>
          <p:cNvPr id="12" name="Shape 9"/>
          <p:cNvSpPr/>
          <p:nvPr/>
        </p:nvSpPr>
        <p:spPr>
          <a:xfrm>
            <a:off x="6537960" y="4480560"/>
            <a:ext cx="128016" cy="128016"/>
          </a:xfrm>
          <a:prstGeom prst="ellipse">
            <a:avLst/>
          </a:prstGeom>
          <a:solidFill>
            <a:srgbClr val="C00000"/>
          </a:solidFill>
          <a:ln/>
        </p:spPr>
      </p:sp>
      <p:sp>
        <p:nvSpPr>
          <p:cNvPr id="13" name="Text 10"/>
          <p:cNvSpPr/>
          <p:nvPr/>
        </p:nvSpPr>
        <p:spPr>
          <a:xfrm>
            <a:off x="6812280" y="4434840"/>
            <a:ext cx="4846320"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No branch is a rounding error</a:t>
            </a:r>
            <a:endParaRPr lang="en-US" sz="1250" dirty="0"/>
          </a:p>
        </p:txBody>
      </p:sp>
      <p:sp>
        <p:nvSpPr>
          <p:cNvPr id="14" name="Text 11"/>
          <p:cNvSpPr/>
          <p:nvPr/>
        </p:nvSpPr>
        <p:spPr>
          <a:xfrm>
            <a:off x="6812280" y="4745736"/>
            <a:ext cx="4846320" cy="77724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Even the smallest branch contributes meaningfully (17%+), suggesting the five-branch footprint is broadly the right shape — the priority is lifting laggards, not closing branches.</a:t>
            </a:r>
            <a:endParaRPr lang="en-US" sz="1100" dirty="0"/>
          </a:p>
        </p:txBody>
      </p:sp>
      <p:sp>
        <p:nvSpPr>
          <p:cNvPr id="15" name="Text 12"/>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16" name="Text 13"/>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VISUALIZATION 4 OF 4 — CLUSTERED BAR</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Category Performance vs. Target</a:t>
            </a:r>
            <a:endParaRPr lang="en-US" sz="2800" dirty="0"/>
          </a:p>
        </p:txBody>
      </p:sp>
      <p:graphicFrame>
        <p:nvGraphicFramePr>
          <p:cNvPr id="4" name="Chart 0"/>
          <p:cNvGraphicFramePr/>
          <p:nvPr/>
        </p:nvGraphicFramePr>
        <p:xfrm>
          <a:off x="457200" y="1417320"/>
          <a:ext cx="66751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315200" y="1463040"/>
            <a:ext cx="4343400" cy="292608"/>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Strong vs. weak categories:</a:t>
            </a:r>
            <a:endParaRPr lang="en-US" sz="1350" dirty="0"/>
          </a:p>
        </p:txBody>
      </p:sp>
      <p:sp>
        <p:nvSpPr>
          <p:cNvPr id="6" name="Text 3"/>
          <p:cNvSpPr/>
          <p:nvPr/>
        </p:nvSpPr>
        <p:spPr>
          <a:xfrm>
            <a:off x="7315200" y="1810512"/>
            <a:ext cx="2103120" cy="347472"/>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Electronics</a:t>
            </a:r>
            <a:endParaRPr lang="en-US" sz="1150" dirty="0"/>
          </a:p>
        </p:txBody>
      </p:sp>
      <p:sp>
        <p:nvSpPr>
          <p:cNvPr id="7" name="Shape 4"/>
          <p:cNvSpPr/>
          <p:nvPr/>
        </p:nvSpPr>
        <p:spPr>
          <a:xfrm>
            <a:off x="9509760" y="1810512"/>
            <a:ext cx="1188720" cy="329184"/>
          </a:xfrm>
          <a:prstGeom prst="roundRect">
            <a:avLst>
              <a:gd name="adj" fmla="val 13889"/>
            </a:avLst>
          </a:prstGeom>
          <a:solidFill>
            <a:srgbClr val="1E2761"/>
          </a:solidFill>
          <a:ln/>
        </p:spPr>
      </p:sp>
      <p:sp>
        <p:nvSpPr>
          <p:cNvPr id="8" name="Text 5"/>
          <p:cNvSpPr/>
          <p:nvPr/>
        </p:nvSpPr>
        <p:spPr>
          <a:xfrm>
            <a:off x="9509760" y="1810512"/>
            <a:ext cx="11887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181.5%</a:t>
            </a:r>
            <a:endParaRPr lang="en-US" sz="1100" dirty="0"/>
          </a:p>
        </p:txBody>
      </p:sp>
      <p:sp>
        <p:nvSpPr>
          <p:cNvPr id="9" name="Text 6"/>
          <p:cNvSpPr/>
          <p:nvPr/>
        </p:nvSpPr>
        <p:spPr>
          <a:xfrm>
            <a:off x="7315200" y="2167128"/>
            <a:ext cx="4343400" cy="384048"/>
          </a:xfrm>
          <a:prstGeom prst="rect">
            <a:avLst/>
          </a:prstGeom>
          <a:noFill/>
          <a:ln/>
        </p:spPr>
        <p:txBody>
          <a:bodyPr wrap="square" rtlCol="0" anchor="ctr"/>
          <a:lstStyle/>
          <a:p>
            <a:pPr marL="0" indent="0">
              <a:lnSpc>
                <a:spcPct val="100000"/>
              </a:lnSpc>
              <a:buNone/>
            </a:pPr>
            <a:r>
              <a:rPr lang="en-US" sz="920" dirty="0">
                <a:solidFill>
                  <a:srgbClr val="333333"/>
                </a:solidFill>
                <a:latin typeface="Calibri" pitchFamily="34" charset="0"/>
                <a:ea typeface="Calibri" pitchFamily="34" charset="-122"/>
                <a:cs typeface="Calibri" pitchFamily="34" charset="-120"/>
              </a:rPr>
              <a:t>Massive overshoot — either targets are set too low, or this category is structurally under-forecast.</a:t>
            </a:r>
            <a:endParaRPr lang="en-US" sz="920" dirty="0"/>
          </a:p>
        </p:txBody>
      </p:sp>
      <p:sp>
        <p:nvSpPr>
          <p:cNvPr id="10" name="Text 7"/>
          <p:cNvSpPr/>
          <p:nvPr/>
        </p:nvSpPr>
        <p:spPr>
          <a:xfrm>
            <a:off x="7315200" y="2651760"/>
            <a:ext cx="2103120" cy="347472"/>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Home Appliances</a:t>
            </a:r>
            <a:endParaRPr lang="en-US" sz="1150" dirty="0"/>
          </a:p>
        </p:txBody>
      </p:sp>
      <p:sp>
        <p:nvSpPr>
          <p:cNvPr id="11" name="Shape 8"/>
          <p:cNvSpPr/>
          <p:nvPr/>
        </p:nvSpPr>
        <p:spPr>
          <a:xfrm>
            <a:off x="9509760" y="2651760"/>
            <a:ext cx="1188720" cy="329184"/>
          </a:xfrm>
          <a:prstGeom prst="roundRect">
            <a:avLst>
              <a:gd name="adj" fmla="val 13889"/>
            </a:avLst>
          </a:prstGeom>
          <a:solidFill>
            <a:srgbClr val="1E2761"/>
          </a:solidFill>
          <a:ln/>
        </p:spPr>
      </p:sp>
      <p:sp>
        <p:nvSpPr>
          <p:cNvPr id="12" name="Text 9"/>
          <p:cNvSpPr/>
          <p:nvPr/>
        </p:nvSpPr>
        <p:spPr>
          <a:xfrm>
            <a:off x="9509760" y="2651760"/>
            <a:ext cx="11887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133.7%</a:t>
            </a:r>
            <a:endParaRPr lang="en-US" sz="1100" dirty="0"/>
          </a:p>
        </p:txBody>
      </p:sp>
      <p:sp>
        <p:nvSpPr>
          <p:cNvPr id="13" name="Text 10"/>
          <p:cNvSpPr/>
          <p:nvPr/>
        </p:nvSpPr>
        <p:spPr>
          <a:xfrm>
            <a:off x="7315200" y="3008376"/>
            <a:ext cx="4343400" cy="384048"/>
          </a:xfrm>
          <a:prstGeom prst="rect">
            <a:avLst/>
          </a:prstGeom>
          <a:noFill/>
          <a:ln/>
        </p:spPr>
        <p:txBody>
          <a:bodyPr wrap="square" rtlCol="0" anchor="ctr"/>
          <a:lstStyle/>
          <a:p>
            <a:pPr marL="0" indent="0">
              <a:lnSpc>
                <a:spcPct val="100000"/>
              </a:lnSpc>
              <a:buNone/>
            </a:pPr>
            <a:r>
              <a:rPr lang="en-US" sz="920" dirty="0">
                <a:solidFill>
                  <a:srgbClr val="333333"/>
                </a:solidFill>
                <a:latin typeface="Calibri" pitchFamily="34" charset="0"/>
                <a:ea typeface="Calibri" pitchFamily="34" charset="-122"/>
                <a:cs typeface="Calibri" pitchFamily="34" charset="-120"/>
              </a:rPr>
              <a:t>Healthy overshoot; second-strongest category.</a:t>
            </a:r>
            <a:endParaRPr lang="en-US" sz="920" dirty="0"/>
          </a:p>
        </p:txBody>
      </p:sp>
      <p:sp>
        <p:nvSpPr>
          <p:cNvPr id="14" name="Text 11"/>
          <p:cNvSpPr/>
          <p:nvPr/>
        </p:nvSpPr>
        <p:spPr>
          <a:xfrm>
            <a:off x="7315200" y="3493008"/>
            <a:ext cx="2103120" cy="347472"/>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Clothing</a:t>
            </a:r>
            <a:endParaRPr lang="en-US" sz="1150" dirty="0"/>
          </a:p>
        </p:txBody>
      </p:sp>
      <p:sp>
        <p:nvSpPr>
          <p:cNvPr id="15" name="Shape 12"/>
          <p:cNvSpPr/>
          <p:nvPr/>
        </p:nvSpPr>
        <p:spPr>
          <a:xfrm>
            <a:off x="9509760" y="3493008"/>
            <a:ext cx="1188720" cy="329184"/>
          </a:xfrm>
          <a:prstGeom prst="roundRect">
            <a:avLst>
              <a:gd name="adj" fmla="val 13889"/>
            </a:avLst>
          </a:prstGeom>
          <a:solidFill>
            <a:srgbClr val="C00000"/>
          </a:solidFill>
          <a:ln/>
        </p:spPr>
      </p:sp>
      <p:sp>
        <p:nvSpPr>
          <p:cNvPr id="16" name="Text 13"/>
          <p:cNvSpPr/>
          <p:nvPr/>
        </p:nvSpPr>
        <p:spPr>
          <a:xfrm>
            <a:off x="9509760" y="3493008"/>
            <a:ext cx="11887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56.4%</a:t>
            </a:r>
            <a:endParaRPr lang="en-US" sz="1100" dirty="0"/>
          </a:p>
        </p:txBody>
      </p:sp>
      <p:sp>
        <p:nvSpPr>
          <p:cNvPr id="17" name="Text 14"/>
          <p:cNvSpPr/>
          <p:nvPr/>
        </p:nvSpPr>
        <p:spPr>
          <a:xfrm>
            <a:off x="7315200" y="3849624"/>
            <a:ext cx="4343400" cy="384048"/>
          </a:xfrm>
          <a:prstGeom prst="rect">
            <a:avLst/>
          </a:prstGeom>
          <a:noFill/>
          <a:ln/>
        </p:spPr>
        <p:txBody>
          <a:bodyPr wrap="square" rtlCol="0" anchor="ctr"/>
          <a:lstStyle/>
          <a:p>
            <a:pPr marL="0" indent="0">
              <a:lnSpc>
                <a:spcPct val="100000"/>
              </a:lnSpc>
              <a:buNone/>
            </a:pPr>
            <a:r>
              <a:rPr lang="en-US" sz="920" dirty="0">
                <a:solidFill>
                  <a:srgbClr val="333333"/>
                </a:solidFill>
                <a:latin typeface="Calibri" pitchFamily="34" charset="0"/>
                <a:ea typeface="Calibri" pitchFamily="34" charset="-122"/>
                <a:cs typeface="Calibri" pitchFamily="34" charset="-120"/>
              </a:rPr>
              <a:t>Sizeable miss — over 1,000 units lower-value items, weak attachment to basket.</a:t>
            </a:r>
            <a:endParaRPr lang="en-US" sz="920" dirty="0"/>
          </a:p>
        </p:txBody>
      </p:sp>
      <p:sp>
        <p:nvSpPr>
          <p:cNvPr id="18" name="Text 15"/>
          <p:cNvSpPr/>
          <p:nvPr/>
        </p:nvSpPr>
        <p:spPr>
          <a:xfrm>
            <a:off x="7315200" y="4334256"/>
            <a:ext cx="2103120" cy="347472"/>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Groceries</a:t>
            </a:r>
            <a:endParaRPr lang="en-US" sz="1150" dirty="0"/>
          </a:p>
        </p:txBody>
      </p:sp>
      <p:sp>
        <p:nvSpPr>
          <p:cNvPr id="19" name="Shape 16"/>
          <p:cNvSpPr/>
          <p:nvPr/>
        </p:nvSpPr>
        <p:spPr>
          <a:xfrm>
            <a:off x="9509760" y="4334256"/>
            <a:ext cx="1188720" cy="329184"/>
          </a:xfrm>
          <a:prstGeom prst="roundRect">
            <a:avLst>
              <a:gd name="adj" fmla="val 13889"/>
            </a:avLst>
          </a:prstGeom>
          <a:solidFill>
            <a:srgbClr val="C00000"/>
          </a:solidFill>
          <a:ln/>
        </p:spPr>
      </p:sp>
      <p:sp>
        <p:nvSpPr>
          <p:cNvPr id="20" name="Text 17"/>
          <p:cNvSpPr/>
          <p:nvPr/>
        </p:nvSpPr>
        <p:spPr>
          <a:xfrm>
            <a:off x="9509760" y="4334256"/>
            <a:ext cx="11887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22.4%</a:t>
            </a:r>
            <a:endParaRPr lang="en-US" sz="1100" dirty="0"/>
          </a:p>
        </p:txBody>
      </p:sp>
      <p:sp>
        <p:nvSpPr>
          <p:cNvPr id="21" name="Text 18"/>
          <p:cNvSpPr/>
          <p:nvPr/>
        </p:nvSpPr>
        <p:spPr>
          <a:xfrm>
            <a:off x="7315200" y="4690872"/>
            <a:ext cx="4343400" cy="384048"/>
          </a:xfrm>
          <a:prstGeom prst="rect">
            <a:avLst/>
          </a:prstGeom>
          <a:noFill/>
          <a:ln/>
        </p:spPr>
        <p:txBody>
          <a:bodyPr wrap="square" rtlCol="0" anchor="ctr"/>
          <a:lstStyle/>
          <a:p>
            <a:pPr marL="0" indent="0">
              <a:lnSpc>
                <a:spcPct val="100000"/>
              </a:lnSpc>
              <a:buNone/>
            </a:pPr>
            <a:r>
              <a:rPr lang="en-US" sz="920" dirty="0">
                <a:solidFill>
                  <a:srgbClr val="333333"/>
                </a:solidFill>
                <a:latin typeface="Calibri" pitchFamily="34" charset="0"/>
                <a:ea typeface="Calibri" pitchFamily="34" charset="-122"/>
                <a:cs typeface="Calibri" pitchFamily="34" charset="-120"/>
              </a:rPr>
              <a:t>Furthest below target — high transaction volume but very low ticket value.</a:t>
            </a:r>
            <a:endParaRPr lang="en-US" sz="920" dirty="0"/>
          </a:p>
        </p:txBody>
      </p:sp>
      <p:sp>
        <p:nvSpPr>
          <p:cNvPr id="22" name="Text 19"/>
          <p:cNvSpPr/>
          <p:nvPr/>
        </p:nvSpPr>
        <p:spPr>
          <a:xfrm>
            <a:off x="7315200" y="5175504"/>
            <a:ext cx="2103120" cy="347472"/>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Cosmetics</a:t>
            </a:r>
            <a:endParaRPr lang="en-US" sz="1150" dirty="0"/>
          </a:p>
        </p:txBody>
      </p:sp>
      <p:sp>
        <p:nvSpPr>
          <p:cNvPr id="23" name="Shape 20"/>
          <p:cNvSpPr/>
          <p:nvPr/>
        </p:nvSpPr>
        <p:spPr>
          <a:xfrm>
            <a:off x="9509760" y="5175504"/>
            <a:ext cx="1188720" cy="329184"/>
          </a:xfrm>
          <a:prstGeom prst="roundRect">
            <a:avLst>
              <a:gd name="adj" fmla="val 13889"/>
            </a:avLst>
          </a:prstGeom>
          <a:solidFill>
            <a:srgbClr val="C00000"/>
          </a:solidFill>
          <a:ln/>
        </p:spPr>
      </p:sp>
      <p:sp>
        <p:nvSpPr>
          <p:cNvPr id="24" name="Text 21"/>
          <p:cNvSpPr/>
          <p:nvPr/>
        </p:nvSpPr>
        <p:spPr>
          <a:xfrm>
            <a:off x="9509760" y="5175504"/>
            <a:ext cx="11887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23.9%</a:t>
            </a:r>
            <a:endParaRPr lang="en-US" sz="1100" dirty="0"/>
          </a:p>
        </p:txBody>
      </p:sp>
      <p:sp>
        <p:nvSpPr>
          <p:cNvPr id="25" name="Text 22"/>
          <p:cNvSpPr/>
          <p:nvPr/>
        </p:nvSpPr>
        <p:spPr>
          <a:xfrm>
            <a:off x="7315200" y="5532120"/>
            <a:ext cx="4343400" cy="384048"/>
          </a:xfrm>
          <a:prstGeom prst="rect">
            <a:avLst/>
          </a:prstGeom>
          <a:noFill/>
          <a:ln/>
        </p:spPr>
        <p:txBody>
          <a:bodyPr wrap="square" rtlCol="0" anchor="ctr"/>
          <a:lstStyle/>
          <a:p>
            <a:pPr marL="0" indent="0">
              <a:lnSpc>
                <a:spcPct val="100000"/>
              </a:lnSpc>
              <a:buNone/>
            </a:pPr>
            <a:r>
              <a:rPr lang="en-US" sz="920" dirty="0">
                <a:solidFill>
                  <a:srgbClr val="333333"/>
                </a:solidFill>
                <a:latin typeface="Calibri" pitchFamily="34" charset="0"/>
                <a:ea typeface="Calibri" pitchFamily="34" charset="-122"/>
                <a:cs typeface="Calibri" pitchFamily="34" charset="-120"/>
              </a:rPr>
              <a:t>Smallest category and second-furthest below target.</a:t>
            </a:r>
            <a:endParaRPr lang="en-US" sz="920" dirty="0"/>
          </a:p>
        </p:txBody>
      </p:sp>
      <p:sp>
        <p:nvSpPr>
          <p:cNvPr id="26" name="Shape 23"/>
          <p:cNvSpPr/>
          <p:nvPr/>
        </p:nvSpPr>
        <p:spPr>
          <a:xfrm>
            <a:off x="457200" y="6126480"/>
            <a:ext cx="11247120" cy="457200"/>
          </a:xfrm>
          <a:prstGeom prst="roundRect">
            <a:avLst>
              <a:gd name="adj" fmla="val 10000"/>
            </a:avLst>
          </a:prstGeom>
          <a:solidFill>
            <a:srgbClr val="E8EBF7"/>
          </a:solidFill>
          <a:ln/>
        </p:spPr>
      </p:sp>
      <p:sp>
        <p:nvSpPr>
          <p:cNvPr id="27" name="Text 24"/>
          <p:cNvSpPr/>
          <p:nvPr/>
        </p:nvSpPr>
        <p:spPr>
          <a:xfrm>
            <a:off x="640080" y="6126480"/>
            <a:ext cx="10881360" cy="457200"/>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Cross-check: </a:t>
            </a:r>
            <a:r>
              <a:rPr lang="en-US" sz="1000" dirty="0">
                <a:solidFill>
                  <a:srgbClr val="333333"/>
                </a:solidFill>
                <a:latin typeface="Calibri" pitchFamily="34" charset="0"/>
                <a:ea typeface="Calibri" pitchFamily="34" charset="-122"/>
                <a:cs typeface="Calibri" pitchFamily="34" charset="-120"/>
              </a:rPr>
              <a:t>return rate is also flat by category (27.4%-29.8%, dashboard view) — target miscalibration, not product quality, explains the Groceries/Cosmetics gap.</a:t>
            </a:r>
            <a:endParaRPr lang="en-US" sz="1000" dirty="0"/>
          </a:p>
        </p:txBody>
      </p:sp>
      <p:sp>
        <p:nvSpPr>
          <p:cNvPr id="28" name="Text 25"/>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29" name="Text 26"/>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STRATEGIC INSIGHTS</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Branch-Level Performance Comparison</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59" cy="2514600"/>
        </p:xfrm>
        <a:graphic>
          <a:graphicData uri="http://schemas.openxmlformats.org/drawingml/2006/table">
            <a:tbl>
              <a:tblPr/>
              <a:tblGrid>
                <a:gridCol w="1587137">
                  <a:extLst>
                    <a:ext uri="{9D8B030D-6E8A-4147-A177-3AD203B41FA5}">
                      <a16:colId xmlns:a16="http://schemas.microsoft.com/office/drawing/2014/main" val="20000"/>
                    </a:ext>
                  </a:extLst>
                </a:gridCol>
                <a:gridCol w="1587137">
                  <a:extLst>
                    <a:ext uri="{9D8B030D-6E8A-4147-A177-3AD203B41FA5}">
                      <a16:colId xmlns:a16="http://schemas.microsoft.com/office/drawing/2014/main" val="20001"/>
                    </a:ext>
                  </a:extLst>
                </a:gridCol>
                <a:gridCol w="1587137">
                  <a:extLst>
                    <a:ext uri="{9D8B030D-6E8A-4147-A177-3AD203B41FA5}">
                      <a16:colId xmlns:a16="http://schemas.microsoft.com/office/drawing/2014/main" val="20002"/>
                    </a:ext>
                  </a:extLst>
                </a:gridCol>
                <a:gridCol w="1587137">
                  <a:extLst>
                    <a:ext uri="{9D8B030D-6E8A-4147-A177-3AD203B41FA5}">
                      <a16:colId xmlns:a16="http://schemas.microsoft.com/office/drawing/2014/main" val="20003"/>
                    </a:ext>
                  </a:extLst>
                </a:gridCol>
                <a:gridCol w="1587137">
                  <a:extLst>
                    <a:ext uri="{9D8B030D-6E8A-4147-A177-3AD203B41FA5}">
                      <a16:colId xmlns:a16="http://schemas.microsoft.com/office/drawing/2014/main" val="20004"/>
                    </a:ext>
                  </a:extLst>
                </a:gridCol>
                <a:gridCol w="1587137">
                  <a:extLst>
                    <a:ext uri="{9D8B030D-6E8A-4147-A177-3AD203B41FA5}">
                      <a16:colId xmlns:a16="http://schemas.microsoft.com/office/drawing/2014/main" val="20005"/>
                    </a:ext>
                  </a:extLst>
                </a:gridCol>
                <a:gridCol w="1587137">
                  <a:extLst>
                    <a:ext uri="{9D8B030D-6E8A-4147-A177-3AD203B41FA5}">
                      <a16:colId xmlns:a16="http://schemas.microsoft.com/office/drawing/2014/main" val="20006"/>
                    </a:ext>
                  </a:extLst>
                </a:gridCol>
              </a:tblGrid>
              <a:tr h="45720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Branch</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Total Sales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Target Achv %</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Avg Basket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Qty Sold</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Return Rate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Satisfaction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11480">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Port Harcourt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NGN 861.7M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E7D32"/>
                          </a:solidFill>
                          <a:latin typeface="Calibri" pitchFamily="34" charset="0"/>
                          <a:ea typeface="Calibri" pitchFamily="34" charset="-122"/>
                          <a:cs typeface="Calibri" pitchFamily="34" charset="-120"/>
                        </a:rPr>
                        <a:t>112.4%</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NGN 783,337</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11,581</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29.1%</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3.04 / 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Abuja Central</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NGN 765.8M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E7D32"/>
                          </a:solidFill>
                          <a:latin typeface="Calibri" pitchFamily="34" charset="0"/>
                          <a:ea typeface="Calibri" pitchFamily="34" charset="-122"/>
                          <a:cs typeface="Calibri" pitchFamily="34" charset="-120"/>
                        </a:rPr>
                        <a:t>103.8%</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NGN 696,184</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11,778</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28.3%</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2.97 / 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Ibadan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NGN 764.0M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E7D32"/>
                          </a:solidFill>
                          <a:latin typeface="Calibri" pitchFamily="34" charset="0"/>
                          <a:ea typeface="Calibri" pitchFamily="34" charset="-122"/>
                          <a:cs typeface="Calibri" pitchFamily="34" charset="-120"/>
                        </a:rPr>
                        <a:t>105.6%</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NGN 694,533</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11,908</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29.2%</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3.00 / 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Lagos Island</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NGN 723.4M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0000"/>
                          </a:solidFill>
                          <a:latin typeface="Calibri" pitchFamily="34" charset="0"/>
                          <a:ea typeface="Calibri" pitchFamily="34" charset="-122"/>
                          <a:cs typeface="Calibri" pitchFamily="34" charset="-120"/>
                        </a:rPr>
                        <a:t>97.6%</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NGN 657,678</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11,384</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28.5%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3.05 / 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Kano</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NGN 646.6M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E7D32"/>
                          </a:solidFill>
                          <a:latin typeface="Calibri" pitchFamily="34" charset="0"/>
                          <a:ea typeface="Calibri" pitchFamily="34" charset="-122"/>
                          <a:cs typeface="Calibri" pitchFamily="34" charset="-120"/>
                        </a:rPr>
                        <a:t>100.6%</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NGN 587,777</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11,063</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27.9%</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3.00 / 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4434840"/>
            <a:ext cx="5394960" cy="292608"/>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Why Port Harcourt and Abuja Central outperform:</a:t>
            </a:r>
            <a:endParaRPr lang="en-US" sz="1350" dirty="0"/>
          </a:p>
        </p:txBody>
      </p:sp>
      <p:sp>
        <p:nvSpPr>
          <p:cNvPr id="6" name="Shape 3"/>
          <p:cNvSpPr/>
          <p:nvPr/>
        </p:nvSpPr>
        <p:spPr>
          <a:xfrm>
            <a:off x="548640" y="4818888"/>
            <a:ext cx="118872" cy="118872"/>
          </a:xfrm>
          <a:prstGeom prst="ellipse">
            <a:avLst/>
          </a:prstGeom>
          <a:solidFill>
            <a:srgbClr val="2E7D32"/>
          </a:solidFill>
          <a:ln/>
        </p:spPr>
      </p:sp>
      <p:sp>
        <p:nvSpPr>
          <p:cNvPr id="7" name="Text 4"/>
          <p:cNvSpPr/>
          <p:nvPr/>
        </p:nvSpPr>
        <p:spPr>
          <a:xfrm>
            <a:off x="804672" y="4727448"/>
            <a:ext cx="5120640" cy="594360"/>
          </a:xfrm>
          <a:prstGeom prst="rect">
            <a:avLst/>
          </a:prstGeom>
          <a:noFill/>
          <a:ln/>
        </p:spPr>
        <p:txBody>
          <a:bodyPr wrap="square" rtlCol="0" anchor="ctr"/>
          <a:lstStyle/>
          <a:p>
            <a:pPr marL="0" indent="0">
              <a:lnSpc>
                <a:spcPct val="110000"/>
              </a:lnSpc>
              <a:buNone/>
            </a:pPr>
            <a:r>
              <a:rPr lang="en-US" sz="1080" dirty="0">
                <a:solidFill>
                  <a:srgbClr val="333333"/>
                </a:solidFill>
                <a:latin typeface="Calibri" pitchFamily="34" charset="0"/>
                <a:ea typeface="Calibri" pitchFamily="34" charset="-122"/>
                <a:cs typeface="Calibri" pitchFamily="34" charset="-120"/>
              </a:rPr>
              <a:t>Both exceed target while carrying above-average basket sizes — suggesting effective upselling into Electronics &amp; Home Appliances.</a:t>
            </a:r>
            <a:endParaRPr lang="en-US" sz="1080" dirty="0"/>
          </a:p>
        </p:txBody>
      </p:sp>
      <p:sp>
        <p:nvSpPr>
          <p:cNvPr id="8" name="Shape 5"/>
          <p:cNvSpPr/>
          <p:nvPr/>
        </p:nvSpPr>
        <p:spPr>
          <a:xfrm>
            <a:off x="548640" y="5440680"/>
            <a:ext cx="118872" cy="118872"/>
          </a:xfrm>
          <a:prstGeom prst="ellipse">
            <a:avLst/>
          </a:prstGeom>
          <a:solidFill>
            <a:srgbClr val="2E7D32"/>
          </a:solidFill>
          <a:ln/>
        </p:spPr>
      </p:sp>
      <p:sp>
        <p:nvSpPr>
          <p:cNvPr id="9" name="Text 6"/>
          <p:cNvSpPr/>
          <p:nvPr/>
        </p:nvSpPr>
        <p:spPr>
          <a:xfrm>
            <a:off x="804672" y="5349240"/>
            <a:ext cx="5120640" cy="594360"/>
          </a:xfrm>
          <a:prstGeom prst="rect">
            <a:avLst/>
          </a:prstGeom>
          <a:noFill/>
          <a:ln/>
        </p:spPr>
        <p:txBody>
          <a:bodyPr wrap="square" rtlCol="0" anchor="ctr"/>
          <a:lstStyle/>
          <a:p>
            <a:pPr marL="0" indent="0">
              <a:lnSpc>
                <a:spcPct val="110000"/>
              </a:lnSpc>
              <a:buNone/>
            </a:pPr>
            <a:r>
              <a:rPr lang="en-US" sz="1080" dirty="0">
                <a:solidFill>
                  <a:srgbClr val="333333"/>
                </a:solidFill>
                <a:latin typeface="Calibri" pitchFamily="34" charset="0"/>
                <a:ea typeface="Calibri" pitchFamily="34" charset="-122"/>
                <a:cs typeface="Calibri" pitchFamily="34" charset="-120"/>
              </a:rPr>
              <a:t>Port Harcourt's category mix (Home Appliances &amp; Groceries focus) benefits from less price-sensitive, higher-ticket categories.</a:t>
            </a:r>
            <a:endParaRPr lang="en-US" sz="1080" dirty="0"/>
          </a:p>
        </p:txBody>
      </p:sp>
      <p:sp>
        <p:nvSpPr>
          <p:cNvPr id="10" name="Text 7"/>
          <p:cNvSpPr/>
          <p:nvPr/>
        </p:nvSpPr>
        <p:spPr>
          <a:xfrm>
            <a:off x="6217920" y="4434840"/>
            <a:ext cx="5394960" cy="292608"/>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Why Lagos Island and Kano need different fixes:</a:t>
            </a:r>
            <a:endParaRPr lang="en-US" sz="1350" dirty="0"/>
          </a:p>
        </p:txBody>
      </p:sp>
      <p:sp>
        <p:nvSpPr>
          <p:cNvPr id="4" name="Shape 8"/>
          <p:cNvSpPr/>
          <p:nvPr/>
        </p:nvSpPr>
        <p:spPr>
          <a:xfrm>
            <a:off x="6217920" y="4818888"/>
            <a:ext cx="118872" cy="118872"/>
          </a:xfrm>
          <a:prstGeom prst="ellipse">
            <a:avLst/>
          </a:prstGeom>
          <a:solidFill>
            <a:srgbClr val="C00000"/>
          </a:solidFill>
          <a:ln/>
        </p:spPr>
      </p:sp>
      <p:sp>
        <p:nvSpPr>
          <p:cNvPr id="12" name="Text 9"/>
          <p:cNvSpPr/>
          <p:nvPr/>
        </p:nvSpPr>
        <p:spPr>
          <a:xfrm>
            <a:off x="6473952" y="4727448"/>
            <a:ext cx="5120640" cy="594360"/>
          </a:xfrm>
          <a:prstGeom prst="rect">
            <a:avLst/>
          </a:prstGeom>
          <a:noFill/>
          <a:ln/>
        </p:spPr>
        <p:txBody>
          <a:bodyPr wrap="square" rtlCol="0" anchor="ctr"/>
          <a:lstStyle/>
          <a:p>
            <a:pPr marL="0" indent="0">
              <a:lnSpc>
                <a:spcPct val="110000"/>
              </a:lnSpc>
              <a:buNone/>
            </a:pPr>
            <a:r>
              <a:rPr lang="en-US" sz="1080" dirty="0">
                <a:solidFill>
                  <a:srgbClr val="333333"/>
                </a:solidFill>
                <a:latin typeface="Calibri" pitchFamily="34" charset="0"/>
                <a:ea typeface="Calibri" pitchFamily="34" charset="-122"/>
                <a:cs typeface="Calibri" pitchFamily="34" charset="-120"/>
              </a:rPr>
              <a:t>Lagos Island shows the lowest average basket size (NGN 657.7K) of all branches — a conversion/upsell gap, not a footfall problem.</a:t>
            </a:r>
            <a:endParaRPr lang="en-US" sz="1080" dirty="0"/>
          </a:p>
        </p:txBody>
      </p:sp>
      <p:sp>
        <p:nvSpPr>
          <p:cNvPr id="13" name="Shape 10"/>
          <p:cNvSpPr/>
          <p:nvPr/>
        </p:nvSpPr>
        <p:spPr>
          <a:xfrm>
            <a:off x="6217920" y="5440680"/>
            <a:ext cx="118872" cy="118872"/>
          </a:xfrm>
          <a:prstGeom prst="ellipse">
            <a:avLst/>
          </a:prstGeom>
          <a:solidFill>
            <a:srgbClr val="C00000"/>
          </a:solidFill>
          <a:ln/>
        </p:spPr>
      </p:sp>
      <p:sp>
        <p:nvSpPr>
          <p:cNvPr id="14" name="Text 11"/>
          <p:cNvSpPr/>
          <p:nvPr/>
        </p:nvSpPr>
        <p:spPr>
          <a:xfrm>
            <a:off x="6473952" y="5349240"/>
            <a:ext cx="5120640" cy="594360"/>
          </a:xfrm>
          <a:prstGeom prst="rect">
            <a:avLst/>
          </a:prstGeom>
          <a:noFill/>
          <a:ln/>
        </p:spPr>
        <p:txBody>
          <a:bodyPr wrap="square" rtlCol="0" anchor="ctr"/>
          <a:lstStyle/>
          <a:p>
            <a:pPr marL="0" indent="0">
              <a:lnSpc>
                <a:spcPct val="110000"/>
              </a:lnSpc>
              <a:buNone/>
            </a:pPr>
            <a:r>
              <a:rPr lang="en-US" sz="1080" dirty="0">
                <a:solidFill>
                  <a:srgbClr val="333333"/>
                </a:solidFill>
                <a:latin typeface="Calibri" pitchFamily="34" charset="0"/>
                <a:ea typeface="Calibri" pitchFamily="34" charset="-122"/>
                <a:cs typeface="Calibri" pitchFamily="34" charset="-120"/>
              </a:rPr>
              <a:t>Kano's smaller revenue base reflects its later branch-opening (2021) and a market still scaling — less a performance failure than a maturity gap.</a:t>
            </a:r>
            <a:endParaRPr lang="en-US" sz="1080" dirty="0"/>
          </a:p>
        </p:txBody>
      </p:sp>
      <p:sp>
        <p:nvSpPr>
          <p:cNvPr id="15" name="Shape 12"/>
          <p:cNvSpPr/>
          <p:nvPr/>
        </p:nvSpPr>
        <p:spPr>
          <a:xfrm>
            <a:off x="548640" y="6080760"/>
            <a:ext cx="11109960" cy="502920"/>
          </a:xfrm>
          <a:prstGeom prst="roundRect">
            <a:avLst>
              <a:gd name="adj" fmla="val 9091"/>
            </a:avLst>
          </a:prstGeom>
          <a:solidFill>
            <a:srgbClr val="1E2761"/>
          </a:solidFill>
          <a:ln/>
        </p:spPr>
      </p:sp>
      <p:sp>
        <p:nvSpPr>
          <p:cNvPr id="16" name="Text 13"/>
          <p:cNvSpPr/>
          <p:nvPr/>
        </p:nvSpPr>
        <p:spPr>
          <a:xfrm>
            <a:off x="777240" y="6080760"/>
            <a:ext cx="10698480" cy="502920"/>
          </a:xfrm>
          <a:prstGeom prst="rect">
            <a:avLst/>
          </a:prstGeom>
          <a:noFill/>
          <a:ln/>
        </p:spPr>
        <p:txBody>
          <a:bodyPr wrap="square" rtlCol="0" anchor="ctr"/>
          <a:lstStyle/>
          <a:p>
            <a:pPr marL="0" indent="0">
              <a:buNone/>
            </a:pPr>
            <a:r>
              <a:rPr lang="en-US" sz="1100" b="1" dirty="0">
                <a:solidFill>
                  <a:srgbClr val="FFB3AB"/>
                </a:solidFill>
                <a:latin typeface="Calibri" pitchFamily="34" charset="0"/>
                <a:ea typeface="Calibri" pitchFamily="34" charset="-122"/>
                <a:cs typeface="Calibri" pitchFamily="34" charset="-120"/>
              </a:rPr>
              <a:t>So what: </a:t>
            </a:r>
            <a:r>
              <a:rPr lang="en-US" sz="1100" dirty="0">
                <a:solidFill>
                  <a:srgbClr val="FFFFFF"/>
                </a:solidFill>
                <a:latin typeface="Calibri" pitchFamily="34" charset="0"/>
                <a:ea typeface="Calibri" pitchFamily="34" charset="-122"/>
                <a:cs typeface="Calibri" pitchFamily="34" charset="-120"/>
              </a:rPr>
              <a:t>satisfaction and returns are flat across branches (~3.0/5, ~28-29%) — they do not explain the sales gap. The real differentiator is basket size and category mix.</a:t>
            </a:r>
            <a:endParaRPr lang="en-US" sz="1100" dirty="0"/>
          </a:p>
        </p:txBody>
      </p:sp>
      <p:sp>
        <p:nvSpPr>
          <p:cNvPr id="17" name="Text 14"/>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18" name="Text 15"/>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STRATEGIC INSIGHTS</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Key Business Insights</a:t>
            </a:r>
            <a:endParaRPr lang="en-US" sz="2800" dirty="0"/>
          </a:p>
        </p:txBody>
      </p:sp>
      <p:sp>
        <p:nvSpPr>
          <p:cNvPr id="4" name="Shape 2"/>
          <p:cNvSpPr/>
          <p:nvPr/>
        </p:nvSpPr>
        <p:spPr>
          <a:xfrm>
            <a:off x="548640" y="1417320"/>
            <a:ext cx="5440680" cy="1481328"/>
          </a:xfrm>
          <a:prstGeom prst="roundRect">
            <a:avLst>
              <a:gd name="adj" fmla="val 3704"/>
            </a:avLst>
          </a:prstGeom>
          <a:solidFill>
            <a:srgbClr val="F4F4F6"/>
          </a:solidFill>
          <a:ln/>
        </p:spPr>
      </p:sp>
      <p:sp>
        <p:nvSpPr>
          <p:cNvPr id="5" name="Shape 3"/>
          <p:cNvSpPr/>
          <p:nvPr/>
        </p:nvSpPr>
        <p:spPr>
          <a:xfrm>
            <a:off x="731520" y="1581912"/>
            <a:ext cx="384048" cy="384048"/>
          </a:xfrm>
          <a:prstGeom prst="ellipse">
            <a:avLst/>
          </a:prstGeom>
          <a:solidFill>
            <a:srgbClr val="E8EBF7"/>
          </a:solidFill>
          <a:ln/>
        </p:spPr>
      </p:sp>
      <p:pic>
        <p:nvPicPr>
          <p:cNvPr id="6" name="Image 0" descr="/home/claude/build/icons/target_navy.png"/>
          <p:cNvPicPr>
            <a:picLocks noChangeAspect="1"/>
          </p:cNvPicPr>
          <p:nvPr/>
        </p:nvPicPr>
        <p:blipFill>
          <a:blip r:embed="rId3"/>
          <a:stretch>
            <a:fillRect/>
          </a:stretch>
        </p:blipFill>
        <p:spPr>
          <a:xfrm>
            <a:off x="832104" y="1682496"/>
            <a:ext cx="182880" cy="182880"/>
          </a:xfrm>
          <a:prstGeom prst="rect">
            <a:avLst/>
          </a:prstGeom>
        </p:spPr>
      </p:pic>
      <p:sp>
        <p:nvSpPr>
          <p:cNvPr id="7" name="Text 4"/>
          <p:cNvSpPr/>
          <p:nvPr/>
        </p:nvSpPr>
        <p:spPr>
          <a:xfrm>
            <a:off x="1234440" y="1536192"/>
            <a:ext cx="4572000" cy="502920"/>
          </a:xfrm>
          <a:prstGeom prst="rect">
            <a:avLst/>
          </a:prstGeom>
          <a:noFill/>
          <a:ln/>
        </p:spPr>
        <p:txBody>
          <a:bodyPr wrap="square" rtlCol="0" anchor="ctr"/>
          <a:lstStyle/>
          <a:p>
            <a:pPr marL="0" indent="0">
              <a:lnSpc>
                <a:spcPct val="100000"/>
              </a:lnSpc>
              <a:buNone/>
            </a:pPr>
            <a:r>
              <a:rPr lang="en-US" sz="1150" b="1" dirty="0">
                <a:solidFill>
                  <a:srgbClr val="1E2761"/>
                </a:solidFill>
                <a:latin typeface="Calibri" pitchFamily="34" charset="0"/>
                <a:ea typeface="Calibri" pitchFamily="34" charset="-122"/>
                <a:cs typeface="Calibri" pitchFamily="34" charset="-120"/>
              </a:rPr>
              <a:t>Electronics is structurally over-target while Groceries and Cosmetics are structurally under-target</a:t>
            </a:r>
            <a:endParaRPr lang="en-US" sz="1150" dirty="0"/>
          </a:p>
        </p:txBody>
      </p:sp>
      <p:sp>
        <p:nvSpPr>
          <p:cNvPr id="8" name="Text 5"/>
          <p:cNvSpPr/>
          <p:nvPr/>
        </p:nvSpPr>
        <p:spPr>
          <a:xfrm>
            <a:off x="731520" y="2075688"/>
            <a:ext cx="5074920" cy="777240"/>
          </a:xfrm>
          <a:prstGeom prst="rect">
            <a:avLst/>
          </a:prstGeom>
          <a:noFill/>
          <a:ln/>
        </p:spPr>
        <p:txBody>
          <a:bodyPr wrap="square" rtlCol="0" anchor="ctr"/>
          <a:lstStyle/>
          <a:p>
            <a:pPr marL="0" indent="0">
              <a:lnSpc>
                <a:spcPct val="108000"/>
              </a:lnSpc>
              <a:buNone/>
            </a:pPr>
            <a:r>
              <a:rPr lang="en-US" sz="930" dirty="0">
                <a:solidFill>
                  <a:srgbClr val="333333"/>
                </a:solidFill>
                <a:latin typeface="Calibri" pitchFamily="34" charset="0"/>
                <a:ea typeface="Calibri" pitchFamily="34" charset="-122"/>
                <a:cs typeface="Calibri" pitchFamily="34" charset="-120"/>
              </a:rPr>
              <a:t>Electronics sits at 181.5% of target and Home Appliances at 133.7%, while Groceries (22.4%) and Cosmetics (23.9%) sit far below — a pattern this consistent across all five branches points to mis-calibrated targets, not branch execution failure.</a:t>
            </a:r>
            <a:endParaRPr lang="en-US" sz="930" dirty="0"/>
          </a:p>
        </p:txBody>
      </p:sp>
      <p:sp>
        <p:nvSpPr>
          <p:cNvPr id="9" name="Shape 6"/>
          <p:cNvSpPr/>
          <p:nvPr/>
        </p:nvSpPr>
        <p:spPr>
          <a:xfrm>
            <a:off x="6217920" y="1417320"/>
            <a:ext cx="5440680" cy="1481328"/>
          </a:xfrm>
          <a:prstGeom prst="roundRect">
            <a:avLst>
              <a:gd name="adj" fmla="val 3704"/>
            </a:avLst>
          </a:prstGeom>
          <a:solidFill>
            <a:srgbClr val="F4F4F6"/>
          </a:solidFill>
          <a:ln/>
        </p:spPr>
      </p:sp>
      <p:sp>
        <p:nvSpPr>
          <p:cNvPr id="10" name="Shape 7"/>
          <p:cNvSpPr/>
          <p:nvPr/>
        </p:nvSpPr>
        <p:spPr>
          <a:xfrm>
            <a:off x="6400800" y="1581912"/>
            <a:ext cx="384048" cy="384048"/>
          </a:xfrm>
          <a:prstGeom prst="ellipse">
            <a:avLst/>
          </a:prstGeom>
          <a:solidFill>
            <a:srgbClr val="E8EBF7"/>
          </a:solidFill>
          <a:ln/>
        </p:spPr>
      </p:sp>
      <p:pic>
        <p:nvPicPr>
          <p:cNvPr id="11" name="Image 1" descr="/home/claude/build/icons/chartbar_navy.png"/>
          <p:cNvPicPr>
            <a:picLocks noChangeAspect="1"/>
          </p:cNvPicPr>
          <p:nvPr/>
        </p:nvPicPr>
        <p:blipFill>
          <a:blip r:embed="rId4"/>
          <a:stretch>
            <a:fillRect/>
          </a:stretch>
        </p:blipFill>
        <p:spPr>
          <a:xfrm>
            <a:off x="6501384" y="1682496"/>
            <a:ext cx="182880" cy="182880"/>
          </a:xfrm>
          <a:prstGeom prst="rect">
            <a:avLst/>
          </a:prstGeom>
        </p:spPr>
      </p:pic>
      <p:sp>
        <p:nvSpPr>
          <p:cNvPr id="12" name="Text 8"/>
          <p:cNvSpPr/>
          <p:nvPr/>
        </p:nvSpPr>
        <p:spPr>
          <a:xfrm>
            <a:off x="6903720" y="1536192"/>
            <a:ext cx="4572000" cy="502920"/>
          </a:xfrm>
          <a:prstGeom prst="rect">
            <a:avLst/>
          </a:prstGeom>
          <a:noFill/>
          <a:ln/>
        </p:spPr>
        <p:txBody>
          <a:bodyPr wrap="square" rtlCol="0" anchor="ctr"/>
          <a:lstStyle/>
          <a:p>
            <a:pPr marL="0" indent="0">
              <a:lnSpc>
                <a:spcPct val="100000"/>
              </a:lnSpc>
              <a:buNone/>
            </a:pPr>
            <a:r>
              <a:rPr lang="en-US" sz="1150" b="1" dirty="0">
                <a:solidFill>
                  <a:srgbClr val="1E2761"/>
                </a:solidFill>
                <a:latin typeface="Calibri" pitchFamily="34" charset="0"/>
                <a:ea typeface="Calibri" pitchFamily="34" charset="-122"/>
                <a:cs typeface="Calibri" pitchFamily="34" charset="-120"/>
              </a:rPr>
              <a:t>Basket size — not footfall or satisfaction — is the real driver of the branch performance gap</a:t>
            </a:r>
            <a:endParaRPr lang="en-US" sz="1150" dirty="0"/>
          </a:p>
        </p:txBody>
      </p:sp>
      <p:sp>
        <p:nvSpPr>
          <p:cNvPr id="13" name="Text 9"/>
          <p:cNvSpPr/>
          <p:nvPr/>
        </p:nvSpPr>
        <p:spPr>
          <a:xfrm>
            <a:off x="6400800" y="2075688"/>
            <a:ext cx="5074920" cy="777240"/>
          </a:xfrm>
          <a:prstGeom prst="rect">
            <a:avLst/>
          </a:prstGeom>
          <a:noFill/>
          <a:ln/>
        </p:spPr>
        <p:txBody>
          <a:bodyPr wrap="square" rtlCol="0" anchor="ctr"/>
          <a:lstStyle/>
          <a:p>
            <a:pPr marL="0" indent="0">
              <a:lnSpc>
                <a:spcPct val="108000"/>
              </a:lnSpc>
              <a:buNone/>
            </a:pPr>
            <a:r>
              <a:rPr lang="en-US" sz="930" dirty="0">
                <a:solidFill>
                  <a:srgbClr val="333333"/>
                </a:solidFill>
                <a:latin typeface="Calibri" pitchFamily="34" charset="0"/>
                <a:ea typeface="Calibri" pitchFamily="34" charset="-122"/>
                <a:cs typeface="Calibri" pitchFamily="34" charset="-120"/>
              </a:rPr>
              <a:t>All five branches show similar transaction counts (~1,100), similar satisfaction (~3.0/5) and similar return rates (~28-29%). The 19% sales gap between Port Harcourt and Lagos Island is explained almost entirely by average transaction value (NGN 783K vs NGN 658K).</a:t>
            </a:r>
            <a:endParaRPr lang="en-US" sz="930" dirty="0"/>
          </a:p>
        </p:txBody>
      </p:sp>
      <p:sp>
        <p:nvSpPr>
          <p:cNvPr id="14" name="Shape 10"/>
          <p:cNvSpPr/>
          <p:nvPr/>
        </p:nvSpPr>
        <p:spPr>
          <a:xfrm>
            <a:off x="548640" y="3063240"/>
            <a:ext cx="5440680" cy="1481328"/>
          </a:xfrm>
          <a:prstGeom prst="roundRect">
            <a:avLst>
              <a:gd name="adj" fmla="val 3704"/>
            </a:avLst>
          </a:prstGeom>
          <a:solidFill>
            <a:srgbClr val="F4F4F6"/>
          </a:solidFill>
          <a:ln/>
        </p:spPr>
      </p:sp>
      <p:sp>
        <p:nvSpPr>
          <p:cNvPr id="15" name="Shape 11"/>
          <p:cNvSpPr/>
          <p:nvPr/>
        </p:nvSpPr>
        <p:spPr>
          <a:xfrm>
            <a:off x="731520" y="3227832"/>
            <a:ext cx="384048" cy="384048"/>
          </a:xfrm>
          <a:prstGeom prst="ellipse">
            <a:avLst/>
          </a:prstGeom>
          <a:solidFill>
            <a:srgbClr val="E8EBF7"/>
          </a:solidFill>
          <a:ln/>
        </p:spPr>
      </p:sp>
      <p:pic>
        <p:nvPicPr>
          <p:cNvPr id="16" name="Image 2" descr="/home/claude/build/icons/chartline_navy.png"/>
          <p:cNvPicPr>
            <a:picLocks noChangeAspect="1"/>
          </p:cNvPicPr>
          <p:nvPr/>
        </p:nvPicPr>
        <p:blipFill>
          <a:blip r:embed="rId5"/>
          <a:stretch>
            <a:fillRect/>
          </a:stretch>
        </p:blipFill>
        <p:spPr>
          <a:xfrm>
            <a:off x="832104" y="3328416"/>
            <a:ext cx="182880" cy="182880"/>
          </a:xfrm>
          <a:prstGeom prst="rect">
            <a:avLst/>
          </a:prstGeom>
        </p:spPr>
      </p:pic>
      <p:sp>
        <p:nvSpPr>
          <p:cNvPr id="17" name="Text 12"/>
          <p:cNvSpPr/>
          <p:nvPr/>
        </p:nvSpPr>
        <p:spPr>
          <a:xfrm>
            <a:off x="1234440" y="3182112"/>
            <a:ext cx="4572000" cy="502920"/>
          </a:xfrm>
          <a:prstGeom prst="rect">
            <a:avLst/>
          </a:prstGeom>
          <a:noFill/>
          <a:ln/>
        </p:spPr>
        <p:txBody>
          <a:bodyPr wrap="square" rtlCol="0" anchor="ctr"/>
          <a:lstStyle/>
          <a:p>
            <a:pPr marL="0" indent="0">
              <a:lnSpc>
                <a:spcPct val="100000"/>
              </a:lnSpc>
              <a:buNone/>
            </a:pPr>
            <a:r>
              <a:rPr lang="en-US" sz="1150" b="1" dirty="0">
                <a:solidFill>
                  <a:srgbClr val="1E2761"/>
                </a:solidFill>
                <a:latin typeface="Calibri" pitchFamily="34" charset="0"/>
                <a:ea typeface="Calibri" pitchFamily="34" charset="-122"/>
                <a:cs typeface="Calibri" pitchFamily="34" charset="-120"/>
              </a:rPr>
              <a:t>Group growth is essentially flat year-on-year, masking branch-level volatility</a:t>
            </a:r>
            <a:endParaRPr lang="en-US" sz="1150" dirty="0"/>
          </a:p>
        </p:txBody>
      </p:sp>
      <p:sp>
        <p:nvSpPr>
          <p:cNvPr id="18" name="Text 13"/>
          <p:cNvSpPr/>
          <p:nvPr/>
        </p:nvSpPr>
        <p:spPr>
          <a:xfrm>
            <a:off x="731520" y="3721608"/>
            <a:ext cx="5074920" cy="777240"/>
          </a:xfrm>
          <a:prstGeom prst="rect">
            <a:avLst/>
          </a:prstGeom>
          <a:noFill/>
          <a:ln/>
        </p:spPr>
        <p:txBody>
          <a:bodyPr wrap="square" rtlCol="0" anchor="ctr"/>
          <a:lstStyle/>
          <a:p>
            <a:pPr marL="0" indent="0">
              <a:lnSpc>
                <a:spcPct val="108000"/>
              </a:lnSpc>
              <a:buNone/>
            </a:pPr>
            <a:r>
              <a:rPr lang="en-US" sz="930" dirty="0">
                <a:solidFill>
                  <a:srgbClr val="333333"/>
                </a:solidFill>
                <a:latin typeface="Calibri" pitchFamily="34" charset="0"/>
                <a:ea typeface="Calibri" pitchFamily="34" charset="-122"/>
                <a:cs typeface="Calibri" pitchFamily="34" charset="-120"/>
              </a:rPr>
              <a:t>Total sales grew only 3.1% from FY2023 to FY2024 (NGN 1.85B → NGN 1.91B) — modest at the group level, but this masks more meaningful divergence at the branch and category level.</a:t>
            </a:r>
            <a:endParaRPr lang="en-US" sz="930" dirty="0"/>
          </a:p>
        </p:txBody>
      </p:sp>
      <p:sp>
        <p:nvSpPr>
          <p:cNvPr id="19" name="Shape 14"/>
          <p:cNvSpPr/>
          <p:nvPr/>
        </p:nvSpPr>
        <p:spPr>
          <a:xfrm>
            <a:off x="6217920" y="3063240"/>
            <a:ext cx="5440680" cy="1481328"/>
          </a:xfrm>
          <a:prstGeom prst="roundRect">
            <a:avLst>
              <a:gd name="adj" fmla="val 3704"/>
            </a:avLst>
          </a:prstGeom>
          <a:solidFill>
            <a:srgbClr val="F4F4F6"/>
          </a:solidFill>
          <a:ln/>
        </p:spPr>
      </p:sp>
      <p:sp>
        <p:nvSpPr>
          <p:cNvPr id="20" name="Shape 15"/>
          <p:cNvSpPr/>
          <p:nvPr/>
        </p:nvSpPr>
        <p:spPr>
          <a:xfrm>
            <a:off x="6400800" y="3227832"/>
            <a:ext cx="384048" cy="384048"/>
          </a:xfrm>
          <a:prstGeom prst="ellipse">
            <a:avLst/>
          </a:prstGeom>
          <a:solidFill>
            <a:srgbClr val="E8EBF7"/>
          </a:solidFill>
          <a:ln/>
        </p:spPr>
      </p:sp>
      <p:pic>
        <p:nvPicPr>
          <p:cNvPr id="21" name="Image 3" descr="/home/claude/build/icons/card_navy.png"/>
          <p:cNvPicPr>
            <a:picLocks noChangeAspect="1"/>
          </p:cNvPicPr>
          <p:nvPr/>
        </p:nvPicPr>
        <p:blipFill>
          <a:blip r:embed="rId6"/>
          <a:stretch>
            <a:fillRect/>
          </a:stretch>
        </p:blipFill>
        <p:spPr>
          <a:xfrm>
            <a:off x="6501384" y="3328416"/>
            <a:ext cx="182880" cy="182880"/>
          </a:xfrm>
          <a:prstGeom prst="rect">
            <a:avLst/>
          </a:prstGeom>
        </p:spPr>
      </p:pic>
      <p:sp>
        <p:nvSpPr>
          <p:cNvPr id="22" name="Text 16"/>
          <p:cNvSpPr/>
          <p:nvPr/>
        </p:nvSpPr>
        <p:spPr>
          <a:xfrm>
            <a:off x="6903720" y="3182112"/>
            <a:ext cx="4572000" cy="502920"/>
          </a:xfrm>
          <a:prstGeom prst="rect">
            <a:avLst/>
          </a:prstGeom>
          <a:noFill/>
          <a:ln/>
        </p:spPr>
        <p:txBody>
          <a:bodyPr wrap="square" rtlCol="0" anchor="ctr"/>
          <a:lstStyle/>
          <a:p>
            <a:pPr marL="0" indent="0">
              <a:lnSpc>
                <a:spcPct val="100000"/>
              </a:lnSpc>
              <a:buNone/>
            </a:pPr>
            <a:r>
              <a:rPr lang="en-US" sz="1150" b="1" dirty="0">
                <a:solidFill>
                  <a:srgbClr val="1E2761"/>
                </a:solidFill>
                <a:latin typeface="Calibri" pitchFamily="34" charset="0"/>
                <a:ea typeface="Calibri" pitchFamily="34" charset="-122"/>
                <a:cs typeface="Calibri" pitchFamily="34" charset="-120"/>
              </a:rPr>
              <a:t>POS is the dominant payment channel, but a fifth of transactions have no recorded payment method</a:t>
            </a:r>
            <a:endParaRPr lang="en-US" sz="1150" dirty="0"/>
          </a:p>
        </p:txBody>
      </p:sp>
      <p:sp>
        <p:nvSpPr>
          <p:cNvPr id="23" name="Text 17"/>
          <p:cNvSpPr/>
          <p:nvPr/>
        </p:nvSpPr>
        <p:spPr>
          <a:xfrm>
            <a:off x="6400800" y="3721608"/>
            <a:ext cx="5074920" cy="777240"/>
          </a:xfrm>
          <a:prstGeom prst="rect">
            <a:avLst/>
          </a:prstGeom>
          <a:noFill/>
          <a:ln/>
        </p:spPr>
        <p:txBody>
          <a:bodyPr wrap="square" rtlCol="0" anchor="ctr"/>
          <a:lstStyle/>
          <a:p>
            <a:pPr marL="0" indent="0">
              <a:lnSpc>
                <a:spcPct val="108000"/>
              </a:lnSpc>
              <a:buNone/>
            </a:pPr>
            <a:r>
              <a:rPr lang="en-US" sz="930" dirty="0">
                <a:solidFill>
                  <a:srgbClr val="333333"/>
                </a:solidFill>
                <a:latin typeface="Calibri" pitchFamily="34" charset="0"/>
                <a:ea typeface="Calibri" pitchFamily="34" charset="-122"/>
                <a:cs typeface="Calibri" pitchFamily="34" charset="-120"/>
              </a:rPr>
              <a:t>POS leads at 33.5% of valid transactions, ahead of Cash (27.8%) and Transfer (25.6%) — but with payment method missing on 20.5% of all transactions, channel-mix conclusions should be treated as directional, not final.</a:t>
            </a:r>
            <a:endParaRPr lang="en-US" sz="930" dirty="0"/>
          </a:p>
        </p:txBody>
      </p:sp>
      <p:sp>
        <p:nvSpPr>
          <p:cNvPr id="24" name="Shape 18"/>
          <p:cNvSpPr/>
          <p:nvPr/>
        </p:nvSpPr>
        <p:spPr>
          <a:xfrm>
            <a:off x="548640" y="4709160"/>
            <a:ext cx="5440680" cy="1481328"/>
          </a:xfrm>
          <a:prstGeom prst="roundRect">
            <a:avLst>
              <a:gd name="adj" fmla="val 3704"/>
            </a:avLst>
          </a:prstGeom>
          <a:solidFill>
            <a:srgbClr val="F4F4F6"/>
          </a:solidFill>
          <a:ln/>
        </p:spPr>
      </p:sp>
      <p:sp>
        <p:nvSpPr>
          <p:cNvPr id="25" name="Shape 19"/>
          <p:cNvSpPr/>
          <p:nvPr/>
        </p:nvSpPr>
        <p:spPr>
          <a:xfrm>
            <a:off x="731520" y="4873752"/>
            <a:ext cx="384048" cy="384048"/>
          </a:xfrm>
          <a:prstGeom prst="ellipse">
            <a:avLst/>
          </a:prstGeom>
          <a:solidFill>
            <a:srgbClr val="E8EBF7"/>
          </a:solidFill>
          <a:ln/>
        </p:spPr>
      </p:sp>
      <p:pic>
        <p:nvPicPr>
          <p:cNvPr id="26" name="Image 4" descr="/home/claude/build/icons/smile_navy.png"/>
          <p:cNvPicPr>
            <a:picLocks noChangeAspect="1"/>
          </p:cNvPicPr>
          <p:nvPr/>
        </p:nvPicPr>
        <p:blipFill>
          <a:blip r:embed="rId7"/>
          <a:stretch>
            <a:fillRect/>
          </a:stretch>
        </p:blipFill>
        <p:spPr>
          <a:xfrm>
            <a:off x="832104" y="4974336"/>
            <a:ext cx="182880" cy="182880"/>
          </a:xfrm>
          <a:prstGeom prst="rect">
            <a:avLst/>
          </a:prstGeom>
        </p:spPr>
      </p:pic>
      <p:sp>
        <p:nvSpPr>
          <p:cNvPr id="27" name="Text 20"/>
          <p:cNvSpPr/>
          <p:nvPr/>
        </p:nvSpPr>
        <p:spPr>
          <a:xfrm>
            <a:off x="1234440" y="4828032"/>
            <a:ext cx="4572000" cy="502920"/>
          </a:xfrm>
          <a:prstGeom prst="rect">
            <a:avLst/>
          </a:prstGeom>
          <a:noFill/>
          <a:ln/>
        </p:spPr>
        <p:txBody>
          <a:bodyPr wrap="square" rtlCol="0" anchor="ctr"/>
          <a:lstStyle/>
          <a:p>
            <a:pPr marL="0" indent="0">
              <a:lnSpc>
                <a:spcPct val="100000"/>
              </a:lnSpc>
              <a:buNone/>
            </a:pPr>
            <a:r>
              <a:rPr lang="en-US" sz="1150" b="1" dirty="0">
                <a:solidFill>
                  <a:srgbClr val="1E2761"/>
                </a:solidFill>
                <a:latin typeface="Calibri" pitchFamily="34" charset="0"/>
                <a:ea typeface="Calibri" pitchFamily="34" charset="-122"/>
                <a:cs typeface="Calibri" pitchFamily="34" charset="-120"/>
              </a:rPr>
              <a:t>Returns and satisfaction are statistically flat across the business — they are not the lever to pull</a:t>
            </a:r>
            <a:endParaRPr lang="en-US" sz="1150" dirty="0"/>
          </a:p>
        </p:txBody>
      </p:sp>
      <p:sp>
        <p:nvSpPr>
          <p:cNvPr id="28" name="Text 21"/>
          <p:cNvSpPr/>
          <p:nvPr/>
        </p:nvSpPr>
        <p:spPr>
          <a:xfrm>
            <a:off x="731520" y="5367528"/>
            <a:ext cx="5074920" cy="777240"/>
          </a:xfrm>
          <a:prstGeom prst="rect">
            <a:avLst/>
          </a:prstGeom>
          <a:noFill/>
          <a:ln/>
        </p:spPr>
        <p:txBody>
          <a:bodyPr wrap="square" rtlCol="0" anchor="ctr"/>
          <a:lstStyle/>
          <a:p>
            <a:pPr marL="0" indent="0">
              <a:lnSpc>
                <a:spcPct val="108000"/>
              </a:lnSpc>
              <a:buNone/>
            </a:pPr>
            <a:r>
              <a:rPr lang="en-US" sz="930" dirty="0">
                <a:solidFill>
                  <a:srgbClr val="333333"/>
                </a:solidFill>
                <a:latin typeface="Calibri" pitchFamily="34" charset="0"/>
                <a:ea typeface="Calibri" pitchFamily="34" charset="-122"/>
                <a:cs typeface="Calibri" pitchFamily="34" charset="-120"/>
              </a:rPr>
              <a:t>Return rate ranges only 27.9%–29.2% across branches and 27.4%–29.8% across categories; satisfaction ranges only 2.97–3.05 across branches. Neither shows a meaningful outlier, so neither explains the performance gap.</a:t>
            </a:r>
            <a:endParaRPr lang="en-US" sz="930" dirty="0"/>
          </a:p>
        </p:txBody>
      </p:sp>
      <p:sp>
        <p:nvSpPr>
          <p:cNvPr id="29" name="Shape 22"/>
          <p:cNvSpPr/>
          <p:nvPr/>
        </p:nvSpPr>
        <p:spPr>
          <a:xfrm>
            <a:off x="6217920" y="4709160"/>
            <a:ext cx="5440680" cy="1481328"/>
          </a:xfrm>
          <a:prstGeom prst="roundRect">
            <a:avLst>
              <a:gd name="adj" fmla="val 3704"/>
            </a:avLst>
          </a:prstGeom>
          <a:solidFill>
            <a:srgbClr val="F4F4F6"/>
          </a:solidFill>
          <a:ln/>
        </p:spPr>
      </p:sp>
      <p:sp>
        <p:nvSpPr>
          <p:cNvPr id="30" name="Shape 23"/>
          <p:cNvSpPr/>
          <p:nvPr/>
        </p:nvSpPr>
        <p:spPr>
          <a:xfrm>
            <a:off x="6400800" y="4873752"/>
            <a:ext cx="384048" cy="384048"/>
          </a:xfrm>
          <a:prstGeom prst="ellipse">
            <a:avLst/>
          </a:prstGeom>
          <a:solidFill>
            <a:srgbClr val="E8EBF7"/>
          </a:solidFill>
          <a:ln/>
        </p:spPr>
      </p:sp>
      <p:pic>
        <p:nvPicPr>
          <p:cNvPr id="31" name="Image 5" descr="/home/claude/build/icons/warning_navy.png"/>
          <p:cNvPicPr>
            <a:picLocks noChangeAspect="1"/>
          </p:cNvPicPr>
          <p:nvPr/>
        </p:nvPicPr>
        <p:blipFill>
          <a:blip r:embed="rId8"/>
          <a:stretch>
            <a:fillRect/>
          </a:stretch>
        </p:blipFill>
        <p:spPr>
          <a:xfrm>
            <a:off x="6501384" y="4974336"/>
            <a:ext cx="182880" cy="182880"/>
          </a:xfrm>
          <a:prstGeom prst="rect">
            <a:avLst/>
          </a:prstGeom>
        </p:spPr>
      </p:pic>
      <p:sp>
        <p:nvSpPr>
          <p:cNvPr id="32" name="Text 24"/>
          <p:cNvSpPr/>
          <p:nvPr/>
        </p:nvSpPr>
        <p:spPr>
          <a:xfrm>
            <a:off x="6903720" y="4828032"/>
            <a:ext cx="4572000" cy="502920"/>
          </a:xfrm>
          <a:prstGeom prst="rect">
            <a:avLst/>
          </a:prstGeom>
          <a:noFill/>
          <a:ln/>
        </p:spPr>
        <p:txBody>
          <a:bodyPr wrap="square" rtlCol="0" anchor="ctr"/>
          <a:lstStyle/>
          <a:p>
            <a:pPr marL="0" indent="0">
              <a:lnSpc>
                <a:spcPct val="100000"/>
              </a:lnSpc>
              <a:buNone/>
            </a:pPr>
            <a:r>
              <a:rPr lang="en-US" sz="1150" b="1" dirty="0">
                <a:solidFill>
                  <a:srgbClr val="1E2761"/>
                </a:solidFill>
                <a:latin typeface="Calibri" pitchFamily="34" charset="0"/>
                <a:ea typeface="Calibri" pitchFamily="34" charset="-122"/>
                <a:cs typeface="Calibri" pitchFamily="34" charset="-120"/>
              </a:rPr>
              <a:t>Port Harcourt carries concentration risk as the single largest revenue contributor</a:t>
            </a:r>
            <a:endParaRPr lang="en-US" sz="1150" dirty="0"/>
          </a:p>
        </p:txBody>
      </p:sp>
      <p:sp>
        <p:nvSpPr>
          <p:cNvPr id="33" name="Text 25"/>
          <p:cNvSpPr/>
          <p:nvPr/>
        </p:nvSpPr>
        <p:spPr>
          <a:xfrm>
            <a:off x="6400800" y="5367528"/>
            <a:ext cx="5074920" cy="777240"/>
          </a:xfrm>
          <a:prstGeom prst="rect">
            <a:avLst/>
          </a:prstGeom>
          <a:noFill/>
          <a:ln/>
        </p:spPr>
        <p:txBody>
          <a:bodyPr wrap="square" rtlCol="0" anchor="ctr"/>
          <a:lstStyle/>
          <a:p>
            <a:pPr marL="0" indent="0">
              <a:lnSpc>
                <a:spcPct val="108000"/>
              </a:lnSpc>
              <a:buNone/>
            </a:pPr>
            <a:r>
              <a:rPr lang="en-US" sz="930" dirty="0">
                <a:solidFill>
                  <a:srgbClr val="333333"/>
                </a:solidFill>
                <a:latin typeface="Calibri" pitchFamily="34" charset="0"/>
                <a:ea typeface="Calibri" pitchFamily="34" charset="-122"/>
                <a:cs typeface="Calibri" pitchFamily="34" charset="-120"/>
              </a:rPr>
              <a:t>At 22.9% of group sales, an operational disruption at Port Harcourt (supply, staffing, security) would be the single hardest hit for HQ to absorb — this is a resilience question, not just a performance one.</a:t>
            </a:r>
            <a:endParaRPr lang="en-US" sz="930" dirty="0"/>
          </a:p>
        </p:txBody>
      </p:sp>
      <p:sp>
        <p:nvSpPr>
          <p:cNvPr id="34" name="Text 26"/>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35" name="Text 27"/>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STRATEGIC INSIGHTS</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Strategic Recommendations for Headquarters</a:t>
            </a:r>
            <a:endParaRPr lang="en-US" sz="2800" dirty="0"/>
          </a:p>
        </p:txBody>
      </p:sp>
      <p:sp>
        <p:nvSpPr>
          <p:cNvPr id="4" name="Shape 2"/>
          <p:cNvSpPr/>
          <p:nvPr/>
        </p:nvSpPr>
        <p:spPr>
          <a:xfrm>
            <a:off x="548640" y="1417320"/>
            <a:ext cx="11109960" cy="896112"/>
          </a:xfrm>
          <a:prstGeom prst="roundRect">
            <a:avLst>
              <a:gd name="adj" fmla="val 5102"/>
            </a:avLst>
          </a:prstGeom>
          <a:solidFill>
            <a:srgbClr val="F4F4F6"/>
          </a:solidFill>
          <a:ln/>
        </p:spPr>
      </p:sp>
      <p:sp>
        <p:nvSpPr>
          <p:cNvPr id="5" name="Shape 3"/>
          <p:cNvSpPr/>
          <p:nvPr/>
        </p:nvSpPr>
        <p:spPr>
          <a:xfrm>
            <a:off x="713232" y="1563624"/>
            <a:ext cx="457200" cy="457200"/>
          </a:xfrm>
          <a:prstGeom prst="ellipse">
            <a:avLst/>
          </a:prstGeom>
          <a:solidFill>
            <a:srgbClr val="1E2761"/>
          </a:solidFill>
          <a:ln/>
        </p:spPr>
      </p:sp>
      <p:sp>
        <p:nvSpPr>
          <p:cNvPr id="6" name="Text 4"/>
          <p:cNvSpPr/>
          <p:nvPr/>
        </p:nvSpPr>
        <p:spPr>
          <a:xfrm>
            <a:off x="713232" y="1563624"/>
            <a:ext cx="457200" cy="45720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371600" y="1490472"/>
            <a:ext cx="3246120" cy="749808"/>
          </a:xfrm>
          <a:prstGeom prst="rect">
            <a:avLst/>
          </a:prstGeom>
          <a:noFill/>
          <a:ln/>
        </p:spPr>
        <p:txBody>
          <a:bodyPr wrap="square" rtlCol="0" anchor="ctr"/>
          <a:lstStyle/>
          <a:p>
            <a:pPr marL="0" indent="0">
              <a:lnSpc>
                <a:spcPct val="100000"/>
              </a:lnSpc>
              <a:buNone/>
            </a:pPr>
            <a:r>
              <a:rPr lang="en-US" sz="1200" b="1" dirty="0">
                <a:solidFill>
                  <a:srgbClr val="1E2761"/>
                </a:solidFill>
                <a:latin typeface="Calibri" pitchFamily="34" charset="0"/>
                <a:ea typeface="Calibri" pitchFamily="34" charset="-122"/>
                <a:cs typeface="Calibri" pitchFamily="34" charset="-120"/>
              </a:rPr>
              <a:t>Re-baseline category sales targets using 2-year actuals</a:t>
            </a:r>
            <a:endParaRPr lang="en-US" sz="1200" dirty="0"/>
          </a:p>
        </p:txBody>
      </p:sp>
      <p:sp>
        <p:nvSpPr>
          <p:cNvPr id="8" name="Text 6"/>
          <p:cNvSpPr/>
          <p:nvPr/>
        </p:nvSpPr>
        <p:spPr>
          <a:xfrm>
            <a:off x="4754880" y="1490472"/>
            <a:ext cx="3383280" cy="749808"/>
          </a:xfrm>
          <a:prstGeom prst="rect">
            <a:avLst/>
          </a:prstGeom>
          <a:noFill/>
          <a:ln/>
        </p:spPr>
        <p:txBody>
          <a:bodyPr wrap="square" rtlCol="0" anchor="ctr"/>
          <a:lstStyle/>
          <a:p>
            <a:pPr marL="0" indent="0">
              <a:lnSpc>
                <a:spcPct val="105000"/>
              </a:lnSpc>
              <a:buNone/>
            </a:pPr>
            <a:r>
              <a:rPr lang="en-US" sz="930" b="1" dirty="0">
                <a:solidFill>
                  <a:srgbClr val="C00000"/>
                </a:solidFill>
                <a:latin typeface="Calibri" pitchFamily="34" charset="0"/>
                <a:ea typeface="Calibri" pitchFamily="34" charset="-122"/>
                <a:cs typeface="Calibri" pitchFamily="34" charset="-120"/>
              </a:rPr>
              <a:t>Why: </a:t>
            </a:r>
            <a:r>
              <a:rPr lang="en-US" sz="930" dirty="0">
                <a:solidFill>
                  <a:srgbClr val="333333"/>
                </a:solidFill>
                <a:latin typeface="Calibri" pitchFamily="34" charset="0"/>
                <a:ea typeface="Calibri" pitchFamily="34" charset="-122"/>
                <a:cs typeface="Calibri" pitchFamily="34" charset="-120"/>
              </a:rPr>
              <a:t>Electronics and Home Appliances overshoot by 30-80%; Groceries and Cosmetics undershoot by ~75-78% — current targets do not reflect real category demand.</a:t>
            </a:r>
            <a:endParaRPr lang="en-US" sz="930" dirty="0"/>
          </a:p>
        </p:txBody>
      </p:sp>
      <p:sp>
        <p:nvSpPr>
          <p:cNvPr id="9" name="Text 7"/>
          <p:cNvSpPr/>
          <p:nvPr/>
        </p:nvSpPr>
        <p:spPr>
          <a:xfrm>
            <a:off x="8275320" y="1490472"/>
            <a:ext cx="3246120" cy="749808"/>
          </a:xfrm>
          <a:prstGeom prst="rect">
            <a:avLst/>
          </a:prstGeom>
          <a:noFill/>
          <a:ln/>
        </p:spPr>
        <p:txBody>
          <a:bodyPr wrap="square" rtlCol="0" anchor="ctr"/>
          <a:lstStyle/>
          <a:p>
            <a:pPr marL="0" indent="0">
              <a:lnSpc>
                <a:spcPct val="105000"/>
              </a:lnSpc>
              <a:buNone/>
            </a:pPr>
            <a:r>
              <a:rPr lang="en-US" sz="930" b="1" dirty="0">
                <a:solidFill>
                  <a:srgbClr val="2E7D32"/>
                </a:solidFill>
                <a:latin typeface="Calibri" pitchFamily="34" charset="0"/>
                <a:ea typeface="Calibri" pitchFamily="34" charset="-122"/>
                <a:cs typeface="Calibri" pitchFamily="34" charset="-120"/>
              </a:rPr>
              <a:t>Impact: </a:t>
            </a:r>
            <a:r>
              <a:rPr lang="en-US" sz="930" dirty="0">
                <a:solidFill>
                  <a:srgbClr val="333333"/>
                </a:solidFill>
                <a:latin typeface="Calibri" pitchFamily="34" charset="0"/>
                <a:ea typeface="Calibri" pitchFamily="34" charset="-122"/>
                <a:cs typeface="Calibri" pitchFamily="34" charset="-120"/>
              </a:rPr>
              <a:t>More accurate target-setting restores the credibility of 'target achievement' as a performance metric and improves resource allocation across categories.</a:t>
            </a:r>
            <a:endParaRPr lang="en-US" sz="930" dirty="0"/>
          </a:p>
        </p:txBody>
      </p:sp>
      <p:sp>
        <p:nvSpPr>
          <p:cNvPr id="10" name="Shape 8"/>
          <p:cNvSpPr/>
          <p:nvPr/>
        </p:nvSpPr>
        <p:spPr>
          <a:xfrm>
            <a:off x="548640" y="2404872"/>
            <a:ext cx="11109960" cy="896112"/>
          </a:xfrm>
          <a:prstGeom prst="roundRect">
            <a:avLst>
              <a:gd name="adj" fmla="val 5102"/>
            </a:avLst>
          </a:prstGeom>
          <a:solidFill>
            <a:srgbClr val="FFFFFF"/>
          </a:solidFill>
          <a:ln/>
        </p:spPr>
      </p:sp>
      <p:sp>
        <p:nvSpPr>
          <p:cNvPr id="11" name="Shape 9"/>
          <p:cNvSpPr/>
          <p:nvPr/>
        </p:nvSpPr>
        <p:spPr>
          <a:xfrm>
            <a:off x="713232" y="2551176"/>
            <a:ext cx="457200" cy="457200"/>
          </a:xfrm>
          <a:prstGeom prst="ellipse">
            <a:avLst/>
          </a:prstGeom>
          <a:solidFill>
            <a:srgbClr val="1E2761"/>
          </a:solidFill>
          <a:ln/>
        </p:spPr>
      </p:sp>
      <p:sp>
        <p:nvSpPr>
          <p:cNvPr id="12" name="Text 10"/>
          <p:cNvSpPr/>
          <p:nvPr/>
        </p:nvSpPr>
        <p:spPr>
          <a:xfrm>
            <a:off x="713232" y="2551176"/>
            <a:ext cx="457200" cy="45720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p:nvPr/>
        </p:nvSpPr>
        <p:spPr>
          <a:xfrm>
            <a:off x="1371600" y="2478024"/>
            <a:ext cx="3246120" cy="749808"/>
          </a:xfrm>
          <a:prstGeom prst="rect">
            <a:avLst/>
          </a:prstGeom>
          <a:noFill/>
          <a:ln/>
        </p:spPr>
        <p:txBody>
          <a:bodyPr wrap="square" rtlCol="0" anchor="ctr"/>
          <a:lstStyle/>
          <a:p>
            <a:pPr marL="0" indent="0">
              <a:lnSpc>
                <a:spcPct val="100000"/>
              </a:lnSpc>
              <a:buNone/>
            </a:pPr>
            <a:r>
              <a:rPr lang="en-US" sz="1200" b="1" dirty="0">
                <a:solidFill>
                  <a:srgbClr val="1E2761"/>
                </a:solidFill>
                <a:latin typeface="Calibri" pitchFamily="34" charset="0"/>
                <a:ea typeface="Calibri" pitchFamily="34" charset="-122"/>
                <a:cs typeface="Calibri" pitchFamily="34" charset="-120"/>
              </a:rPr>
              <a:t>Run a basket-building / upsell program at Lagos Island and Kano</a:t>
            </a:r>
            <a:endParaRPr lang="en-US" sz="1200" dirty="0"/>
          </a:p>
        </p:txBody>
      </p:sp>
      <p:sp>
        <p:nvSpPr>
          <p:cNvPr id="14" name="Text 12"/>
          <p:cNvSpPr/>
          <p:nvPr/>
        </p:nvSpPr>
        <p:spPr>
          <a:xfrm>
            <a:off x="4754880" y="2478024"/>
            <a:ext cx="3383280" cy="749808"/>
          </a:xfrm>
          <a:prstGeom prst="rect">
            <a:avLst/>
          </a:prstGeom>
          <a:noFill/>
          <a:ln/>
        </p:spPr>
        <p:txBody>
          <a:bodyPr wrap="square" rtlCol="0" anchor="ctr"/>
          <a:lstStyle/>
          <a:p>
            <a:pPr marL="0" indent="0">
              <a:lnSpc>
                <a:spcPct val="105000"/>
              </a:lnSpc>
              <a:buNone/>
            </a:pPr>
            <a:r>
              <a:rPr lang="en-US" sz="930" b="1" dirty="0">
                <a:solidFill>
                  <a:srgbClr val="C00000"/>
                </a:solidFill>
                <a:latin typeface="Calibri" pitchFamily="34" charset="0"/>
                <a:ea typeface="Calibri" pitchFamily="34" charset="-122"/>
                <a:cs typeface="Calibri" pitchFamily="34" charset="-120"/>
              </a:rPr>
              <a:t>Why: </a:t>
            </a:r>
            <a:r>
              <a:rPr lang="en-US" sz="930" dirty="0">
                <a:solidFill>
                  <a:srgbClr val="333333"/>
                </a:solidFill>
                <a:latin typeface="Calibri" pitchFamily="34" charset="0"/>
                <a:ea typeface="Calibri" pitchFamily="34" charset="-122"/>
                <a:cs typeface="Calibri" pitchFamily="34" charset="-120"/>
              </a:rPr>
              <a:t>These branches show the lowest average transaction value despite comparable footfall and satisfaction — the gap is in conversion, not demand.</a:t>
            </a:r>
            <a:endParaRPr lang="en-US" sz="930" dirty="0"/>
          </a:p>
        </p:txBody>
      </p:sp>
      <p:sp>
        <p:nvSpPr>
          <p:cNvPr id="15" name="Text 13"/>
          <p:cNvSpPr/>
          <p:nvPr/>
        </p:nvSpPr>
        <p:spPr>
          <a:xfrm>
            <a:off x="8275320" y="2478024"/>
            <a:ext cx="3246120" cy="749808"/>
          </a:xfrm>
          <a:prstGeom prst="rect">
            <a:avLst/>
          </a:prstGeom>
          <a:noFill/>
          <a:ln/>
        </p:spPr>
        <p:txBody>
          <a:bodyPr wrap="square" rtlCol="0" anchor="ctr"/>
          <a:lstStyle/>
          <a:p>
            <a:pPr marL="0" indent="0">
              <a:lnSpc>
                <a:spcPct val="105000"/>
              </a:lnSpc>
              <a:buNone/>
            </a:pPr>
            <a:r>
              <a:rPr lang="en-US" sz="930" b="1" dirty="0">
                <a:solidFill>
                  <a:srgbClr val="2E7D32"/>
                </a:solidFill>
                <a:latin typeface="Calibri" pitchFamily="34" charset="0"/>
                <a:ea typeface="Calibri" pitchFamily="34" charset="-122"/>
                <a:cs typeface="Calibri" pitchFamily="34" charset="-120"/>
              </a:rPr>
              <a:t>Impact: </a:t>
            </a:r>
            <a:r>
              <a:rPr lang="en-US" sz="930" dirty="0">
                <a:solidFill>
                  <a:srgbClr val="333333"/>
                </a:solidFill>
                <a:latin typeface="Calibri" pitchFamily="34" charset="0"/>
                <a:ea typeface="Calibri" pitchFamily="34" charset="-122"/>
                <a:cs typeface="Calibri" pitchFamily="34" charset="-120"/>
              </a:rPr>
              <a:t>Closing even half the basket-size gap to the group average could lift combined branch revenue by an estimated NGN 60-80M annually.</a:t>
            </a:r>
            <a:endParaRPr lang="en-US" sz="930" dirty="0"/>
          </a:p>
        </p:txBody>
      </p:sp>
      <p:sp>
        <p:nvSpPr>
          <p:cNvPr id="16" name="Shape 14"/>
          <p:cNvSpPr/>
          <p:nvPr/>
        </p:nvSpPr>
        <p:spPr>
          <a:xfrm>
            <a:off x="548640" y="3392424"/>
            <a:ext cx="11109960" cy="896112"/>
          </a:xfrm>
          <a:prstGeom prst="roundRect">
            <a:avLst>
              <a:gd name="adj" fmla="val 5102"/>
            </a:avLst>
          </a:prstGeom>
          <a:solidFill>
            <a:srgbClr val="F4F4F6"/>
          </a:solidFill>
          <a:ln/>
        </p:spPr>
      </p:sp>
      <p:sp>
        <p:nvSpPr>
          <p:cNvPr id="17" name="Shape 15"/>
          <p:cNvSpPr/>
          <p:nvPr/>
        </p:nvSpPr>
        <p:spPr>
          <a:xfrm>
            <a:off x="713232" y="3538728"/>
            <a:ext cx="457200" cy="457200"/>
          </a:xfrm>
          <a:prstGeom prst="ellipse">
            <a:avLst/>
          </a:prstGeom>
          <a:solidFill>
            <a:srgbClr val="1E2761"/>
          </a:solidFill>
          <a:ln/>
        </p:spPr>
      </p:sp>
      <p:sp>
        <p:nvSpPr>
          <p:cNvPr id="18" name="Text 16"/>
          <p:cNvSpPr/>
          <p:nvPr/>
        </p:nvSpPr>
        <p:spPr>
          <a:xfrm>
            <a:off x="713232" y="3538728"/>
            <a:ext cx="457200" cy="45720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1371600" y="3465576"/>
            <a:ext cx="3246120" cy="749808"/>
          </a:xfrm>
          <a:prstGeom prst="rect">
            <a:avLst/>
          </a:prstGeom>
          <a:noFill/>
          <a:ln/>
        </p:spPr>
        <p:txBody>
          <a:bodyPr wrap="square" rtlCol="0" anchor="ctr"/>
          <a:lstStyle/>
          <a:p>
            <a:pPr marL="0" indent="0">
              <a:lnSpc>
                <a:spcPct val="100000"/>
              </a:lnSpc>
              <a:buNone/>
            </a:pPr>
            <a:r>
              <a:rPr lang="en-US" sz="1200" b="1" dirty="0">
                <a:solidFill>
                  <a:srgbClr val="1E2761"/>
                </a:solidFill>
                <a:latin typeface="Calibri" pitchFamily="34" charset="0"/>
                <a:ea typeface="Calibri" pitchFamily="34" charset="-122"/>
                <a:cs typeface="Calibri" pitchFamily="34" charset="-120"/>
              </a:rPr>
              <a:t>Fix payment-method data capture at point of sale</a:t>
            </a:r>
            <a:endParaRPr lang="en-US" sz="1200" dirty="0"/>
          </a:p>
        </p:txBody>
      </p:sp>
      <p:sp>
        <p:nvSpPr>
          <p:cNvPr id="20" name="Text 18"/>
          <p:cNvSpPr/>
          <p:nvPr/>
        </p:nvSpPr>
        <p:spPr>
          <a:xfrm>
            <a:off x="4754880" y="3465576"/>
            <a:ext cx="3383280" cy="749808"/>
          </a:xfrm>
          <a:prstGeom prst="rect">
            <a:avLst/>
          </a:prstGeom>
          <a:noFill/>
          <a:ln/>
        </p:spPr>
        <p:txBody>
          <a:bodyPr wrap="square" rtlCol="0" anchor="ctr"/>
          <a:lstStyle/>
          <a:p>
            <a:pPr marL="0" indent="0">
              <a:lnSpc>
                <a:spcPct val="105000"/>
              </a:lnSpc>
              <a:buNone/>
            </a:pPr>
            <a:r>
              <a:rPr lang="en-US" sz="930" b="1" dirty="0">
                <a:solidFill>
                  <a:srgbClr val="C00000"/>
                </a:solidFill>
                <a:latin typeface="Calibri" pitchFamily="34" charset="0"/>
                <a:ea typeface="Calibri" pitchFamily="34" charset="-122"/>
                <a:cs typeface="Calibri" pitchFamily="34" charset="-120"/>
              </a:rPr>
              <a:t>Why: </a:t>
            </a:r>
            <a:r>
              <a:rPr lang="en-US" sz="930" dirty="0">
                <a:solidFill>
                  <a:srgbClr val="333333"/>
                </a:solidFill>
                <a:latin typeface="Calibri" pitchFamily="34" charset="0"/>
                <a:ea typeface="Calibri" pitchFamily="34" charset="-122"/>
                <a:cs typeface="Calibri" pitchFamily="34" charset="-120"/>
              </a:rPr>
              <a:t>20.5% of transactions have no recorded payment method, weakening confidence in channel-mix and fraud/reconciliation analysis.</a:t>
            </a:r>
            <a:endParaRPr lang="en-US" sz="930" dirty="0"/>
          </a:p>
        </p:txBody>
      </p:sp>
      <p:sp>
        <p:nvSpPr>
          <p:cNvPr id="21" name="Text 19"/>
          <p:cNvSpPr/>
          <p:nvPr/>
        </p:nvSpPr>
        <p:spPr>
          <a:xfrm>
            <a:off x="8275320" y="3465576"/>
            <a:ext cx="3246120" cy="749808"/>
          </a:xfrm>
          <a:prstGeom prst="rect">
            <a:avLst/>
          </a:prstGeom>
          <a:noFill/>
          <a:ln/>
        </p:spPr>
        <p:txBody>
          <a:bodyPr wrap="square" rtlCol="0" anchor="ctr"/>
          <a:lstStyle/>
          <a:p>
            <a:pPr marL="0" indent="0">
              <a:lnSpc>
                <a:spcPct val="105000"/>
              </a:lnSpc>
              <a:buNone/>
            </a:pPr>
            <a:r>
              <a:rPr lang="en-US" sz="930" b="1" dirty="0">
                <a:solidFill>
                  <a:srgbClr val="2E7D32"/>
                </a:solidFill>
                <a:latin typeface="Calibri" pitchFamily="34" charset="0"/>
                <a:ea typeface="Calibri" pitchFamily="34" charset="-122"/>
                <a:cs typeface="Calibri" pitchFamily="34" charset="-120"/>
              </a:rPr>
              <a:t>Impact: </a:t>
            </a:r>
            <a:r>
              <a:rPr lang="en-US" sz="930" dirty="0">
                <a:solidFill>
                  <a:srgbClr val="333333"/>
                </a:solidFill>
                <a:latin typeface="Calibri" pitchFamily="34" charset="0"/>
                <a:ea typeface="Calibri" pitchFamily="34" charset="-122"/>
                <a:cs typeface="Calibri" pitchFamily="34" charset="-120"/>
              </a:rPr>
              <a:t>Reliable payment data enables better cash-flow forecasting and supports a more confident push toward higher-margin digital payment channels.</a:t>
            </a:r>
            <a:endParaRPr lang="en-US" sz="930" dirty="0"/>
          </a:p>
        </p:txBody>
      </p:sp>
      <p:sp>
        <p:nvSpPr>
          <p:cNvPr id="22" name="Shape 20"/>
          <p:cNvSpPr/>
          <p:nvPr/>
        </p:nvSpPr>
        <p:spPr>
          <a:xfrm>
            <a:off x="548640" y="4379976"/>
            <a:ext cx="11109960" cy="896112"/>
          </a:xfrm>
          <a:prstGeom prst="roundRect">
            <a:avLst>
              <a:gd name="adj" fmla="val 5102"/>
            </a:avLst>
          </a:prstGeom>
          <a:solidFill>
            <a:srgbClr val="FFFFFF"/>
          </a:solidFill>
          <a:ln/>
        </p:spPr>
      </p:sp>
      <p:sp>
        <p:nvSpPr>
          <p:cNvPr id="23" name="Shape 21"/>
          <p:cNvSpPr/>
          <p:nvPr/>
        </p:nvSpPr>
        <p:spPr>
          <a:xfrm>
            <a:off x="713232" y="4526280"/>
            <a:ext cx="457200" cy="457200"/>
          </a:xfrm>
          <a:prstGeom prst="ellipse">
            <a:avLst/>
          </a:prstGeom>
          <a:solidFill>
            <a:srgbClr val="1E2761"/>
          </a:solidFill>
          <a:ln/>
        </p:spPr>
      </p:sp>
      <p:sp>
        <p:nvSpPr>
          <p:cNvPr id="24" name="Text 22"/>
          <p:cNvSpPr/>
          <p:nvPr/>
        </p:nvSpPr>
        <p:spPr>
          <a:xfrm>
            <a:off x="713232" y="4526280"/>
            <a:ext cx="457200" cy="45720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5" name="Text 23"/>
          <p:cNvSpPr/>
          <p:nvPr/>
        </p:nvSpPr>
        <p:spPr>
          <a:xfrm>
            <a:off x="1371600" y="4453128"/>
            <a:ext cx="3246120" cy="749808"/>
          </a:xfrm>
          <a:prstGeom prst="rect">
            <a:avLst/>
          </a:prstGeom>
          <a:noFill/>
          <a:ln/>
        </p:spPr>
        <p:txBody>
          <a:bodyPr wrap="square" rtlCol="0" anchor="ctr"/>
          <a:lstStyle/>
          <a:p>
            <a:pPr marL="0" indent="0">
              <a:lnSpc>
                <a:spcPct val="100000"/>
              </a:lnSpc>
              <a:buNone/>
            </a:pPr>
            <a:r>
              <a:rPr lang="en-US" sz="1200" b="1" dirty="0">
                <a:solidFill>
                  <a:srgbClr val="1E2761"/>
                </a:solidFill>
                <a:latin typeface="Calibri" pitchFamily="34" charset="0"/>
                <a:ea typeface="Calibri" pitchFamily="34" charset="-122"/>
                <a:cs typeface="Calibri" pitchFamily="34" charset="-120"/>
              </a:rPr>
              <a:t>Build a Port Harcourt business-continuity plan</a:t>
            </a:r>
            <a:endParaRPr lang="en-US" sz="1200" dirty="0"/>
          </a:p>
        </p:txBody>
      </p:sp>
      <p:sp>
        <p:nvSpPr>
          <p:cNvPr id="26" name="Text 24"/>
          <p:cNvSpPr/>
          <p:nvPr/>
        </p:nvSpPr>
        <p:spPr>
          <a:xfrm>
            <a:off x="4754880" y="4453128"/>
            <a:ext cx="3383280" cy="749808"/>
          </a:xfrm>
          <a:prstGeom prst="rect">
            <a:avLst/>
          </a:prstGeom>
          <a:noFill/>
          <a:ln/>
        </p:spPr>
        <p:txBody>
          <a:bodyPr wrap="square" rtlCol="0" anchor="ctr"/>
          <a:lstStyle/>
          <a:p>
            <a:pPr marL="0" indent="0">
              <a:lnSpc>
                <a:spcPct val="105000"/>
              </a:lnSpc>
              <a:buNone/>
            </a:pPr>
            <a:r>
              <a:rPr lang="en-US" sz="930" b="1" dirty="0">
                <a:solidFill>
                  <a:srgbClr val="C00000"/>
                </a:solidFill>
                <a:latin typeface="Calibri" pitchFamily="34" charset="0"/>
                <a:ea typeface="Calibri" pitchFamily="34" charset="-122"/>
                <a:cs typeface="Calibri" pitchFamily="34" charset="-120"/>
              </a:rPr>
              <a:t>Why: </a:t>
            </a:r>
            <a:r>
              <a:rPr lang="en-US" sz="930" dirty="0">
                <a:solidFill>
                  <a:srgbClr val="333333"/>
                </a:solidFill>
                <a:latin typeface="Calibri" pitchFamily="34" charset="0"/>
                <a:ea typeface="Calibri" pitchFamily="34" charset="-122"/>
                <a:cs typeface="Calibri" pitchFamily="34" charset="-120"/>
              </a:rPr>
              <a:t>As the largest single contributor (22.9% of group sales), any disruption there has an outsized impact on group performance.</a:t>
            </a:r>
            <a:endParaRPr lang="en-US" sz="930" dirty="0"/>
          </a:p>
        </p:txBody>
      </p:sp>
      <p:sp>
        <p:nvSpPr>
          <p:cNvPr id="27" name="Text 25"/>
          <p:cNvSpPr/>
          <p:nvPr/>
        </p:nvSpPr>
        <p:spPr>
          <a:xfrm>
            <a:off x="8275320" y="4453128"/>
            <a:ext cx="3246120" cy="749808"/>
          </a:xfrm>
          <a:prstGeom prst="rect">
            <a:avLst/>
          </a:prstGeom>
          <a:noFill/>
          <a:ln/>
        </p:spPr>
        <p:txBody>
          <a:bodyPr wrap="square" rtlCol="0" anchor="ctr"/>
          <a:lstStyle/>
          <a:p>
            <a:pPr marL="0" indent="0">
              <a:lnSpc>
                <a:spcPct val="105000"/>
              </a:lnSpc>
              <a:buNone/>
            </a:pPr>
            <a:r>
              <a:rPr lang="en-US" sz="930" b="1" dirty="0">
                <a:solidFill>
                  <a:srgbClr val="2E7D32"/>
                </a:solidFill>
                <a:latin typeface="Calibri" pitchFamily="34" charset="0"/>
                <a:ea typeface="Calibri" pitchFamily="34" charset="-122"/>
                <a:cs typeface="Calibri" pitchFamily="34" charset="-120"/>
              </a:rPr>
              <a:t>Impact: </a:t>
            </a:r>
            <a:r>
              <a:rPr lang="en-US" sz="930" dirty="0">
                <a:solidFill>
                  <a:srgbClr val="333333"/>
                </a:solidFill>
                <a:latin typeface="Calibri" pitchFamily="34" charset="0"/>
                <a:ea typeface="Calibri" pitchFamily="34" charset="-122"/>
                <a:cs typeface="Calibri" pitchFamily="34" charset="-120"/>
              </a:rPr>
              <a:t>Reduces downside risk to group revenue and protects the Board's confidence in full-year forecasts.</a:t>
            </a:r>
            <a:endParaRPr lang="en-US" sz="930" dirty="0"/>
          </a:p>
        </p:txBody>
      </p:sp>
      <p:sp>
        <p:nvSpPr>
          <p:cNvPr id="28" name="Shape 26"/>
          <p:cNvSpPr/>
          <p:nvPr/>
        </p:nvSpPr>
        <p:spPr>
          <a:xfrm>
            <a:off x="548640" y="5367528"/>
            <a:ext cx="11109960" cy="896112"/>
          </a:xfrm>
          <a:prstGeom prst="roundRect">
            <a:avLst>
              <a:gd name="adj" fmla="val 5102"/>
            </a:avLst>
          </a:prstGeom>
          <a:solidFill>
            <a:srgbClr val="F4F4F6"/>
          </a:solidFill>
          <a:ln/>
        </p:spPr>
      </p:sp>
      <p:sp>
        <p:nvSpPr>
          <p:cNvPr id="29" name="Shape 27"/>
          <p:cNvSpPr/>
          <p:nvPr/>
        </p:nvSpPr>
        <p:spPr>
          <a:xfrm>
            <a:off x="713232" y="5513832"/>
            <a:ext cx="457200" cy="457200"/>
          </a:xfrm>
          <a:prstGeom prst="ellipse">
            <a:avLst/>
          </a:prstGeom>
          <a:solidFill>
            <a:srgbClr val="1E2761"/>
          </a:solidFill>
          <a:ln/>
        </p:spPr>
      </p:sp>
      <p:sp>
        <p:nvSpPr>
          <p:cNvPr id="30" name="Text 28"/>
          <p:cNvSpPr/>
          <p:nvPr/>
        </p:nvSpPr>
        <p:spPr>
          <a:xfrm>
            <a:off x="713232" y="5513832"/>
            <a:ext cx="457200" cy="45720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31" name="Text 29"/>
          <p:cNvSpPr/>
          <p:nvPr/>
        </p:nvSpPr>
        <p:spPr>
          <a:xfrm>
            <a:off x="1371600" y="5440680"/>
            <a:ext cx="3246120" cy="749808"/>
          </a:xfrm>
          <a:prstGeom prst="rect">
            <a:avLst/>
          </a:prstGeom>
          <a:noFill/>
          <a:ln/>
        </p:spPr>
        <p:txBody>
          <a:bodyPr wrap="square" rtlCol="0" anchor="ctr"/>
          <a:lstStyle/>
          <a:p>
            <a:pPr marL="0" indent="0">
              <a:lnSpc>
                <a:spcPct val="100000"/>
              </a:lnSpc>
              <a:buNone/>
            </a:pPr>
            <a:r>
              <a:rPr lang="en-US" sz="1200" b="1" dirty="0">
                <a:solidFill>
                  <a:srgbClr val="1E2761"/>
                </a:solidFill>
                <a:latin typeface="Calibri" pitchFamily="34" charset="0"/>
                <a:ea typeface="Calibri" pitchFamily="34" charset="-122"/>
                <a:cs typeface="Calibri" pitchFamily="34" charset="-120"/>
              </a:rPr>
              <a:t>Launch a targeted mid-quarter promotion for June and March</a:t>
            </a:r>
            <a:endParaRPr lang="en-US" sz="1200" dirty="0"/>
          </a:p>
        </p:txBody>
      </p:sp>
      <p:sp>
        <p:nvSpPr>
          <p:cNvPr id="32" name="Text 30"/>
          <p:cNvSpPr/>
          <p:nvPr/>
        </p:nvSpPr>
        <p:spPr>
          <a:xfrm>
            <a:off x="4754880" y="5440680"/>
            <a:ext cx="3383280" cy="749808"/>
          </a:xfrm>
          <a:prstGeom prst="rect">
            <a:avLst/>
          </a:prstGeom>
          <a:noFill/>
          <a:ln/>
        </p:spPr>
        <p:txBody>
          <a:bodyPr wrap="square" rtlCol="0" anchor="ctr"/>
          <a:lstStyle/>
          <a:p>
            <a:pPr marL="0" indent="0">
              <a:lnSpc>
                <a:spcPct val="105000"/>
              </a:lnSpc>
              <a:buNone/>
            </a:pPr>
            <a:r>
              <a:rPr lang="en-US" sz="930" b="1" dirty="0">
                <a:solidFill>
                  <a:srgbClr val="C00000"/>
                </a:solidFill>
                <a:latin typeface="Calibri" pitchFamily="34" charset="0"/>
                <a:ea typeface="Calibri" pitchFamily="34" charset="-122"/>
                <a:cs typeface="Calibri" pitchFamily="34" charset="-120"/>
              </a:rPr>
              <a:t>Why: </a:t>
            </a:r>
            <a:r>
              <a:rPr lang="en-US" sz="930" dirty="0">
                <a:solidFill>
                  <a:srgbClr val="333333"/>
                </a:solidFill>
                <a:latin typeface="Calibri" pitchFamily="34" charset="0"/>
                <a:ea typeface="Calibri" pitchFamily="34" charset="-122"/>
                <a:cs typeface="Calibri" pitchFamily="34" charset="-120"/>
              </a:rPr>
              <a:t>Both months show a recurring sales dip in both FY2023 and FY2024 — a consistent seasonal pattern, not noise.</a:t>
            </a:r>
            <a:endParaRPr lang="en-US" sz="930" dirty="0"/>
          </a:p>
        </p:txBody>
      </p:sp>
      <p:sp>
        <p:nvSpPr>
          <p:cNvPr id="33" name="Text 31"/>
          <p:cNvSpPr/>
          <p:nvPr/>
        </p:nvSpPr>
        <p:spPr>
          <a:xfrm>
            <a:off x="8275320" y="5440680"/>
            <a:ext cx="3246120" cy="749808"/>
          </a:xfrm>
          <a:prstGeom prst="rect">
            <a:avLst/>
          </a:prstGeom>
          <a:noFill/>
          <a:ln/>
        </p:spPr>
        <p:txBody>
          <a:bodyPr wrap="square" rtlCol="0" anchor="ctr"/>
          <a:lstStyle/>
          <a:p>
            <a:pPr marL="0" indent="0">
              <a:lnSpc>
                <a:spcPct val="105000"/>
              </a:lnSpc>
              <a:buNone/>
            </a:pPr>
            <a:r>
              <a:rPr lang="en-US" sz="930" b="1" dirty="0">
                <a:solidFill>
                  <a:srgbClr val="2E7D32"/>
                </a:solidFill>
                <a:latin typeface="Calibri" pitchFamily="34" charset="0"/>
                <a:ea typeface="Calibri" pitchFamily="34" charset="-122"/>
                <a:cs typeface="Calibri" pitchFamily="34" charset="-120"/>
              </a:rPr>
              <a:t>Impact: </a:t>
            </a:r>
            <a:r>
              <a:rPr lang="en-US" sz="930" dirty="0">
                <a:solidFill>
                  <a:srgbClr val="333333"/>
                </a:solidFill>
                <a:latin typeface="Calibri" pitchFamily="34" charset="0"/>
                <a:ea typeface="Calibri" pitchFamily="34" charset="-122"/>
                <a:cs typeface="Calibri" pitchFamily="34" charset="-120"/>
              </a:rPr>
              <a:t>Smoothing the seasonal trough could add an estimated 2-4% to annual group sales with minimal incremental marketing spend.</a:t>
            </a:r>
            <a:endParaRPr lang="en-US" sz="930" dirty="0"/>
          </a:p>
        </p:txBody>
      </p:sp>
      <p:sp>
        <p:nvSpPr>
          <p:cNvPr id="34" name="Text 32"/>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35" name="Text 33"/>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APPENDIX</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Supporting Detail &amp; Metric Definitions</a:t>
            </a:r>
            <a:endParaRPr lang="en-US" sz="2800" dirty="0"/>
          </a:p>
        </p:txBody>
      </p:sp>
      <p:sp>
        <p:nvSpPr>
          <p:cNvPr id="4" name="Text 2"/>
          <p:cNvSpPr/>
          <p:nvPr/>
        </p:nvSpPr>
        <p:spPr>
          <a:xfrm>
            <a:off x="548640" y="1417320"/>
            <a:ext cx="5486400" cy="27432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Branch x Category Sales Matrix (NGN, millions)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486400" cy="187452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480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Branch</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Electronics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Home Appliances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Clothing</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Groceries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Cosmetics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04800">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Port Harcourt</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533</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227</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57</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33</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Abuja Central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515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132</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Ibadan</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406</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249</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36</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04800">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Lagos Island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479</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129</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62</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04800">
                <a:tc>
                  <a:txBody>
                    <a:bodyPr/>
                    <a:lstStyle/>
                    <a:p>
                      <a:pPr marL="0" indent="0">
                        <a:buNone/>
                      </a:pPr>
                      <a:r>
                        <a:rPr lang="en-US" sz="900" b="1" dirty="0">
                          <a:solidFill>
                            <a:srgbClr val="1E2761"/>
                          </a:solidFill>
                          <a:latin typeface="Calibri" pitchFamily="34" charset="0"/>
                          <a:ea typeface="Calibri" pitchFamily="34" charset="-122"/>
                          <a:cs typeface="Calibri" pitchFamily="34" charset="-120"/>
                        </a:rPr>
                        <a:t>Kano</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402</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121</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36</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548640" y="3794760"/>
            <a:ext cx="5486400" cy="27432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Payment Method Distribution (% of valid transactions)</a:t>
            </a:r>
            <a:endParaRPr lang="en-US" sz="13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48640" y="4114800"/>
          <a:ext cx="2926080" cy="1554480"/>
        </p:xfrm>
        <a:graphic>
          <a:graphicData uri="http://schemas.openxmlformats.org/drawingml/2006/table">
            <a:tbl>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10896">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Method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 Share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10896">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00000"/>
                          </a:solidFill>
                          <a:latin typeface="Calibri" pitchFamily="34" charset="0"/>
                          <a:ea typeface="Calibri" pitchFamily="34" charset="-122"/>
                          <a:cs typeface="Calibri" pitchFamily="34" charset="-120"/>
                        </a:rPr>
                        <a:t>33.5%</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Cash</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00000"/>
                          </a:solidFill>
                          <a:latin typeface="Calibri" pitchFamily="34" charset="0"/>
                          <a:ea typeface="Calibri" pitchFamily="34" charset="-122"/>
                          <a:cs typeface="Calibri" pitchFamily="34" charset="-120"/>
                        </a:rPr>
                        <a:t>27.8%</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Transfer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00000"/>
                          </a:solidFill>
                          <a:latin typeface="Calibri" pitchFamily="34" charset="0"/>
                          <a:ea typeface="Calibri" pitchFamily="34" charset="-122"/>
                          <a:cs typeface="Calibri" pitchFamily="34" charset="-120"/>
                        </a:rPr>
                        <a:t>25.6%</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Online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50" dirty="0">
                          <a:solidFill>
                            <a:srgbClr val="000000"/>
                          </a:solidFill>
                          <a:latin typeface="Calibri" pitchFamily="34" charset="0"/>
                          <a:ea typeface="Calibri" pitchFamily="34" charset="-122"/>
                          <a:cs typeface="Calibri" pitchFamily="34" charset="-120"/>
                        </a:rPr>
                        <a:t>13.1%</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4"/>
          <p:cNvSpPr/>
          <p:nvPr/>
        </p:nvSpPr>
        <p:spPr>
          <a:xfrm>
            <a:off x="6400800" y="1417320"/>
            <a:ext cx="5257800" cy="27432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Metric Definitions</a:t>
            </a:r>
            <a:endParaRPr lang="en-US" sz="1300" dirty="0"/>
          </a:p>
        </p:txBody>
      </p:sp>
      <p:sp>
        <p:nvSpPr>
          <p:cNvPr id="9" name="Text 5"/>
          <p:cNvSpPr/>
          <p:nvPr/>
        </p:nvSpPr>
        <p:spPr>
          <a:xfrm>
            <a:off x="6400800" y="1755648"/>
            <a:ext cx="5257800" cy="228600"/>
          </a:xfrm>
          <a:prstGeom prst="rect">
            <a:avLst/>
          </a:prstGeom>
          <a:noFill/>
          <a:ln/>
        </p:spPr>
        <p:txBody>
          <a:bodyPr wrap="square" rtlCol="0" anchor="ctr"/>
          <a:lstStyle/>
          <a:p>
            <a:pPr marL="0" indent="0">
              <a:buNone/>
            </a:pPr>
            <a:r>
              <a:rPr lang="en-US" sz="1050" b="1" dirty="0">
                <a:solidFill>
                  <a:srgbClr val="C00000"/>
                </a:solidFill>
                <a:latin typeface="Calibri" pitchFamily="34" charset="0"/>
                <a:ea typeface="Calibri" pitchFamily="34" charset="-122"/>
                <a:cs typeface="Calibri" pitchFamily="34" charset="-120"/>
              </a:rPr>
              <a:t>Target Achievement %</a:t>
            </a:r>
            <a:endParaRPr lang="en-US" sz="1050" dirty="0"/>
          </a:p>
        </p:txBody>
      </p:sp>
      <p:sp>
        <p:nvSpPr>
          <p:cNvPr id="10" name="Text 6"/>
          <p:cNvSpPr/>
          <p:nvPr/>
        </p:nvSpPr>
        <p:spPr>
          <a:xfrm>
            <a:off x="6400800" y="1965960"/>
            <a:ext cx="5257800" cy="347472"/>
          </a:xfrm>
          <a:prstGeom prst="rect">
            <a:avLst/>
          </a:prstGeom>
          <a:noFill/>
          <a:ln/>
        </p:spPr>
        <p:txBody>
          <a:bodyPr wrap="square" rtlCol="0" anchor="ctr"/>
          <a:lstStyle/>
          <a:p>
            <a:pPr marL="0" indent="0">
              <a:lnSpc>
                <a:spcPct val="105000"/>
              </a:lnSpc>
              <a:buNone/>
            </a:pPr>
            <a:r>
              <a:rPr lang="en-US" sz="980" dirty="0">
                <a:solidFill>
                  <a:srgbClr val="333333"/>
                </a:solidFill>
                <a:latin typeface="Calibri" pitchFamily="34" charset="0"/>
                <a:ea typeface="Calibri" pitchFamily="34" charset="-122"/>
                <a:cs typeface="Calibri" pitchFamily="34" charset="-120"/>
              </a:rPr>
              <a:t>Total Sales ÷ Target Sales, by branch or category.</a:t>
            </a:r>
            <a:endParaRPr lang="en-US" sz="980" dirty="0"/>
          </a:p>
        </p:txBody>
      </p:sp>
      <p:sp>
        <p:nvSpPr>
          <p:cNvPr id="11" name="Text 7"/>
          <p:cNvSpPr/>
          <p:nvPr/>
        </p:nvSpPr>
        <p:spPr>
          <a:xfrm>
            <a:off x="6400800" y="2322576"/>
            <a:ext cx="5257800" cy="228600"/>
          </a:xfrm>
          <a:prstGeom prst="rect">
            <a:avLst/>
          </a:prstGeom>
          <a:noFill/>
          <a:ln/>
        </p:spPr>
        <p:txBody>
          <a:bodyPr wrap="square" rtlCol="0" anchor="ctr"/>
          <a:lstStyle/>
          <a:p>
            <a:pPr marL="0" indent="0">
              <a:buNone/>
            </a:pPr>
            <a:r>
              <a:rPr lang="en-US" sz="1050" b="1" dirty="0">
                <a:solidFill>
                  <a:srgbClr val="C00000"/>
                </a:solidFill>
                <a:latin typeface="Calibri" pitchFamily="34" charset="0"/>
                <a:ea typeface="Calibri" pitchFamily="34" charset="-122"/>
                <a:cs typeface="Calibri" pitchFamily="34" charset="-120"/>
              </a:rPr>
              <a:t>Average Basket</a:t>
            </a:r>
            <a:endParaRPr lang="en-US" sz="1050" dirty="0"/>
          </a:p>
        </p:txBody>
      </p:sp>
      <p:sp>
        <p:nvSpPr>
          <p:cNvPr id="12" name="Text 8"/>
          <p:cNvSpPr/>
          <p:nvPr/>
        </p:nvSpPr>
        <p:spPr>
          <a:xfrm>
            <a:off x="6400800" y="2532888"/>
            <a:ext cx="5257800" cy="347472"/>
          </a:xfrm>
          <a:prstGeom prst="rect">
            <a:avLst/>
          </a:prstGeom>
          <a:noFill/>
          <a:ln/>
        </p:spPr>
        <p:txBody>
          <a:bodyPr wrap="square" rtlCol="0" anchor="ctr"/>
          <a:lstStyle/>
          <a:p>
            <a:pPr marL="0" indent="0">
              <a:lnSpc>
                <a:spcPct val="105000"/>
              </a:lnSpc>
              <a:buNone/>
            </a:pPr>
            <a:r>
              <a:rPr lang="en-US" sz="980" dirty="0">
                <a:solidFill>
                  <a:srgbClr val="333333"/>
                </a:solidFill>
                <a:latin typeface="Calibri" pitchFamily="34" charset="0"/>
                <a:ea typeface="Calibri" pitchFamily="34" charset="-122"/>
                <a:cs typeface="Calibri" pitchFamily="34" charset="-120"/>
              </a:rPr>
              <a:t>Total Sales ÷ Number of Transactions.</a:t>
            </a:r>
            <a:endParaRPr lang="en-US" sz="980" dirty="0"/>
          </a:p>
        </p:txBody>
      </p:sp>
      <p:sp>
        <p:nvSpPr>
          <p:cNvPr id="13" name="Text 9"/>
          <p:cNvSpPr/>
          <p:nvPr/>
        </p:nvSpPr>
        <p:spPr>
          <a:xfrm>
            <a:off x="6400800" y="2889504"/>
            <a:ext cx="5257800" cy="228600"/>
          </a:xfrm>
          <a:prstGeom prst="rect">
            <a:avLst/>
          </a:prstGeom>
          <a:noFill/>
          <a:ln/>
        </p:spPr>
        <p:txBody>
          <a:bodyPr wrap="square" rtlCol="0" anchor="ctr"/>
          <a:lstStyle/>
          <a:p>
            <a:pPr marL="0" indent="0">
              <a:buNone/>
            </a:pPr>
            <a:r>
              <a:rPr lang="en-US" sz="1050" b="1" dirty="0">
                <a:solidFill>
                  <a:srgbClr val="C00000"/>
                </a:solidFill>
                <a:latin typeface="Calibri" pitchFamily="34" charset="0"/>
                <a:ea typeface="Calibri" pitchFamily="34" charset="-122"/>
                <a:cs typeface="Calibri" pitchFamily="34" charset="-120"/>
              </a:rPr>
              <a:t>Return Rate %</a:t>
            </a:r>
            <a:endParaRPr lang="en-US" sz="1050" dirty="0"/>
          </a:p>
        </p:txBody>
      </p:sp>
      <p:sp>
        <p:nvSpPr>
          <p:cNvPr id="14" name="Text 10"/>
          <p:cNvSpPr/>
          <p:nvPr/>
        </p:nvSpPr>
        <p:spPr>
          <a:xfrm>
            <a:off x="6400800" y="3099816"/>
            <a:ext cx="5257800" cy="347472"/>
          </a:xfrm>
          <a:prstGeom prst="rect">
            <a:avLst/>
          </a:prstGeom>
          <a:noFill/>
          <a:ln/>
        </p:spPr>
        <p:txBody>
          <a:bodyPr wrap="square" rtlCol="0" anchor="ctr"/>
          <a:lstStyle/>
          <a:p>
            <a:pPr marL="0" indent="0">
              <a:lnSpc>
                <a:spcPct val="105000"/>
              </a:lnSpc>
              <a:buNone/>
            </a:pPr>
            <a:r>
              <a:rPr lang="en-US" sz="980" dirty="0">
                <a:solidFill>
                  <a:srgbClr val="333333"/>
                </a:solidFill>
                <a:latin typeface="Calibri" pitchFamily="34" charset="0"/>
                <a:ea typeface="Calibri" pitchFamily="34" charset="-122"/>
                <a:cs typeface="Calibri" pitchFamily="34" charset="-120"/>
              </a:rPr>
              <a:t>Transactions flagged 'Yes' ÷ all transactions with a valid Yes/No flag.</a:t>
            </a:r>
            <a:endParaRPr lang="en-US" sz="980" dirty="0"/>
          </a:p>
        </p:txBody>
      </p:sp>
      <p:sp>
        <p:nvSpPr>
          <p:cNvPr id="15" name="Text 11"/>
          <p:cNvSpPr/>
          <p:nvPr/>
        </p:nvSpPr>
        <p:spPr>
          <a:xfrm>
            <a:off x="6400800" y="3456432"/>
            <a:ext cx="5257800" cy="228600"/>
          </a:xfrm>
          <a:prstGeom prst="rect">
            <a:avLst/>
          </a:prstGeom>
          <a:noFill/>
          <a:ln/>
        </p:spPr>
        <p:txBody>
          <a:bodyPr wrap="square" rtlCol="0" anchor="ctr"/>
          <a:lstStyle/>
          <a:p>
            <a:pPr marL="0" indent="0">
              <a:buNone/>
            </a:pPr>
            <a:r>
              <a:rPr lang="en-US" sz="1050" b="1" dirty="0">
                <a:solidFill>
                  <a:srgbClr val="C00000"/>
                </a:solidFill>
                <a:latin typeface="Calibri" pitchFamily="34" charset="0"/>
                <a:ea typeface="Calibri" pitchFamily="34" charset="-122"/>
                <a:cs typeface="Calibri" pitchFamily="34" charset="-120"/>
              </a:rPr>
              <a:t>Avg Satisfaction</a:t>
            </a:r>
            <a:endParaRPr lang="en-US" sz="1050" dirty="0"/>
          </a:p>
        </p:txBody>
      </p:sp>
      <p:sp>
        <p:nvSpPr>
          <p:cNvPr id="5" name="Text 12"/>
          <p:cNvSpPr/>
          <p:nvPr/>
        </p:nvSpPr>
        <p:spPr>
          <a:xfrm>
            <a:off x="6400800" y="3666744"/>
            <a:ext cx="5257800" cy="347472"/>
          </a:xfrm>
          <a:prstGeom prst="rect">
            <a:avLst/>
          </a:prstGeom>
          <a:noFill/>
          <a:ln/>
        </p:spPr>
        <p:txBody>
          <a:bodyPr wrap="square" rtlCol="0" anchor="ctr"/>
          <a:lstStyle/>
          <a:p>
            <a:pPr marL="0" indent="0">
              <a:lnSpc>
                <a:spcPct val="105000"/>
              </a:lnSpc>
              <a:buNone/>
            </a:pPr>
            <a:r>
              <a:rPr lang="en-US" sz="980" dirty="0">
                <a:solidFill>
                  <a:srgbClr val="333333"/>
                </a:solidFill>
                <a:latin typeface="Calibri" pitchFamily="34" charset="0"/>
                <a:ea typeface="Calibri" pitchFamily="34" charset="-122"/>
                <a:cs typeface="Calibri" pitchFamily="34" charset="-120"/>
              </a:rPr>
              <a:t>Mean of valid scores (1-5 only); invalid/blank entries excluded, not imputed.</a:t>
            </a:r>
            <a:endParaRPr lang="en-US" sz="980" dirty="0"/>
          </a:p>
        </p:txBody>
      </p:sp>
      <p:sp>
        <p:nvSpPr>
          <p:cNvPr id="17" name="Text 13"/>
          <p:cNvSpPr/>
          <p:nvPr/>
        </p:nvSpPr>
        <p:spPr>
          <a:xfrm>
            <a:off x="6400800" y="4023360"/>
            <a:ext cx="5257800" cy="228600"/>
          </a:xfrm>
          <a:prstGeom prst="rect">
            <a:avLst/>
          </a:prstGeom>
          <a:noFill/>
          <a:ln/>
        </p:spPr>
        <p:txBody>
          <a:bodyPr wrap="square" rtlCol="0" anchor="ctr"/>
          <a:lstStyle/>
          <a:p>
            <a:pPr marL="0" indent="0">
              <a:buNone/>
            </a:pPr>
            <a:r>
              <a:rPr lang="en-US" sz="1050" b="1" dirty="0">
                <a:solidFill>
                  <a:srgbClr val="C00000"/>
                </a:solidFill>
                <a:latin typeface="Calibri" pitchFamily="34" charset="0"/>
                <a:ea typeface="Calibri" pitchFamily="34" charset="-122"/>
                <a:cs typeface="Calibri" pitchFamily="34" charset="-120"/>
              </a:rPr>
              <a:t>Contribution %</a:t>
            </a:r>
            <a:endParaRPr lang="en-US" sz="1050" dirty="0"/>
          </a:p>
        </p:txBody>
      </p:sp>
      <p:sp>
        <p:nvSpPr>
          <p:cNvPr id="18" name="Text 14"/>
          <p:cNvSpPr/>
          <p:nvPr/>
        </p:nvSpPr>
        <p:spPr>
          <a:xfrm>
            <a:off x="6400800" y="4233672"/>
            <a:ext cx="5257800" cy="347472"/>
          </a:xfrm>
          <a:prstGeom prst="rect">
            <a:avLst/>
          </a:prstGeom>
          <a:noFill/>
          <a:ln/>
        </p:spPr>
        <p:txBody>
          <a:bodyPr wrap="square" rtlCol="0" anchor="ctr"/>
          <a:lstStyle/>
          <a:p>
            <a:pPr marL="0" indent="0">
              <a:lnSpc>
                <a:spcPct val="105000"/>
              </a:lnSpc>
              <a:buNone/>
            </a:pPr>
            <a:r>
              <a:rPr lang="en-US" sz="980" dirty="0">
                <a:solidFill>
                  <a:srgbClr val="333333"/>
                </a:solidFill>
                <a:latin typeface="Calibri" pitchFamily="34" charset="0"/>
                <a:ea typeface="Calibri" pitchFamily="34" charset="-122"/>
                <a:cs typeface="Calibri" pitchFamily="34" charset="-120"/>
              </a:rPr>
              <a:t>Branch or category Total Sales ÷ Group Total Sales.</a:t>
            </a:r>
            <a:endParaRPr lang="en-US" sz="980" dirty="0"/>
          </a:p>
        </p:txBody>
      </p:sp>
      <p:sp>
        <p:nvSpPr>
          <p:cNvPr id="19" name="Shape 15"/>
          <p:cNvSpPr/>
          <p:nvPr/>
        </p:nvSpPr>
        <p:spPr>
          <a:xfrm>
            <a:off x="6400800" y="4617720"/>
            <a:ext cx="5257800" cy="1097280"/>
          </a:xfrm>
          <a:prstGeom prst="roundRect">
            <a:avLst>
              <a:gd name="adj" fmla="val 5000"/>
            </a:avLst>
          </a:prstGeom>
          <a:solidFill>
            <a:srgbClr val="E8EBF7"/>
          </a:solidFill>
          <a:ln/>
        </p:spPr>
      </p:sp>
      <p:sp>
        <p:nvSpPr>
          <p:cNvPr id="20" name="Text 16"/>
          <p:cNvSpPr/>
          <p:nvPr/>
        </p:nvSpPr>
        <p:spPr>
          <a:xfrm>
            <a:off x="6583680" y="4709160"/>
            <a:ext cx="4892040" cy="914400"/>
          </a:xfrm>
          <a:prstGeom prst="rect">
            <a:avLst/>
          </a:prstGeom>
          <a:noFill/>
          <a:ln/>
        </p:spPr>
        <p:txBody>
          <a:bodyPr wrap="square" rtlCol="0" anchor="ctr"/>
          <a:lstStyle/>
          <a:p>
            <a:pPr marL="0" indent="0">
              <a:lnSpc>
                <a:spcPct val="115000"/>
              </a:lnSpc>
              <a:buNone/>
            </a:pPr>
            <a:r>
              <a:rPr lang="en-US" sz="980" b="1" dirty="0">
                <a:solidFill>
                  <a:srgbClr val="1E2761"/>
                </a:solidFill>
                <a:latin typeface="Calibri" pitchFamily="34" charset="0"/>
                <a:ea typeface="Calibri" pitchFamily="34" charset="-122"/>
                <a:cs typeface="Calibri" pitchFamily="34" charset="-120"/>
              </a:rPr>
              <a:t>Data limitation note: </a:t>
            </a:r>
            <a:r>
              <a:rPr lang="en-US" sz="980" dirty="0">
                <a:solidFill>
                  <a:srgbClr val="333333"/>
                </a:solidFill>
                <a:latin typeface="Calibri" pitchFamily="34" charset="0"/>
                <a:ea typeface="Calibri" pitchFamily="34" charset="-122"/>
                <a:cs typeface="Calibri" pitchFamily="34" charset="-120"/>
              </a:rPr>
              <a:t>No product cost data was available in the source extract, so 'profitability' in this deck is approximated via Net Sales after discount, not true margin. A future iteration should incorporate cost-of-goods data for a true profit view.</a:t>
            </a:r>
            <a:endParaRPr lang="en-US" sz="980" dirty="0"/>
          </a:p>
        </p:txBody>
      </p:sp>
      <p:sp>
        <p:nvSpPr>
          <p:cNvPr id="21" name="Text 17"/>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22" name="Text 18"/>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rtlCol="0" anchor="ctr"/>
          <a:lstStyle/>
          <a:p>
            <a:pPr marL="0" indent="0">
              <a:buNone/>
            </a:pPr>
            <a:r>
              <a:rPr lang="en-US" sz="1200" b="1" kern="0" spc="200" dirty="0">
                <a:solidFill>
                  <a:srgbClr val="C00000"/>
                </a:solidFill>
                <a:latin typeface="Calibri" pitchFamily="34" charset="0"/>
                <a:ea typeface="Calibri" pitchFamily="34" charset="-122"/>
                <a:cs typeface="Calibri" pitchFamily="34" charset="-120"/>
              </a:rPr>
              <a:t>STRATEGIC INSIGHTS</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Implementation Roadmap</a:t>
            </a:r>
            <a:endParaRPr lang="en-US" sz="2800" dirty="0"/>
          </a:p>
        </p:txBody>
      </p:sp>
      <p:sp>
        <p:nvSpPr>
          <p:cNvPr id="4" name="Shape 2"/>
          <p:cNvSpPr/>
          <p:nvPr/>
        </p:nvSpPr>
        <p:spPr>
          <a:xfrm>
            <a:off x="548640" y="1463040"/>
            <a:ext cx="3584448" cy="868680"/>
          </a:xfrm>
          <a:prstGeom prst="roundRect">
            <a:avLst>
              <a:gd name="adj" fmla="val 6316"/>
            </a:avLst>
          </a:prstGeom>
          <a:solidFill>
            <a:srgbClr val="C00000"/>
          </a:solidFill>
          <a:ln/>
        </p:spPr>
      </p:sp>
      <p:pic>
        <p:nvPicPr>
          <p:cNvPr id="5" name="Image 0" descr="/home/claude/build/icons/rocket_white.png"/>
          <p:cNvPicPr>
            <a:picLocks noChangeAspect="1"/>
          </p:cNvPicPr>
          <p:nvPr/>
        </p:nvPicPr>
        <p:blipFill>
          <a:blip r:embed="rId3"/>
          <a:stretch>
            <a:fillRect/>
          </a:stretch>
        </p:blipFill>
        <p:spPr>
          <a:xfrm>
            <a:off x="777240" y="1664208"/>
            <a:ext cx="457200" cy="457200"/>
          </a:xfrm>
          <a:prstGeom prst="rect">
            <a:avLst/>
          </a:prstGeom>
        </p:spPr>
      </p:pic>
      <p:sp>
        <p:nvSpPr>
          <p:cNvPr id="6" name="Text 3"/>
          <p:cNvSpPr/>
          <p:nvPr/>
        </p:nvSpPr>
        <p:spPr>
          <a:xfrm>
            <a:off x="1371600" y="1581912"/>
            <a:ext cx="2578608"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SHORT-TERM</a:t>
            </a:r>
            <a:endParaRPr lang="en-US" sz="1400" dirty="0"/>
          </a:p>
        </p:txBody>
      </p:sp>
      <p:sp>
        <p:nvSpPr>
          <p:cNvPr id="7" name="Text 4"/>
          <p:cNvSpPr/>
          <p:nvPr/>
        </p:nvSpPr>
        <p:spPr>
          <a:xfrm>
            <a:off x="1371600" y="1901952"/>
            <a:ext cx="2578608" cy="320040"/>
          </a:xfrm>
          <a:prstGeom prst="rect">
            <a:avLst/>
          </a:prstGeom>
          <a:noFill/>
          <a:ln/>
        </p:spPr>
        <p:txBody>
          <a:bodyPr wrap="square" rtlCol="0" anchor="ctr"/>
          <a:lstStyle/>
          <a:p>
            <a:pPr marL="0" indent="0">
              <a:buNone/>
            </a:pPr>
            <a:r>
              <a:rPr lang="en-US" sz="1100" dirty="0">
                <a:solidFill>
                  <a:srgbClr val="DCE1F5"/>
                </a:solidFill>
                <a:latin typeface="Calibri" pitchFamily="34" charset="0"/>
                <a:ea typeface="Calibri" pitchFamily="34" charset="-122"/>
                <a:cs typeface="Calibri" pitchFamily="34" charset="-120"/>
              </a:rPr>
              <a:t>0-3 Months</a:t>
            </a:r>
            <a:endParaRPr lang="en-US" sz="1100" dirty="0"/>
          </a:p>
        </p:txBody>
      </p:sp>
      <p:sp>
        <p:nvSpPr>
          <p:cNvPr id="8" name="Shape 5"/>
          <p:cNvSpPr/>
          <p:nvPr/>
        </p:nvSpPr>
        <p:spPr>
          <a:xfrm>
            <a:off x="548640" y="2468880"/>
            <a:ext cx="3584448" cy="3154680"/>
          </a:xfrm>
          <a:prstGeom prst="roundRect">
            <a:avLst>
              <a:gd name="adj" fmla="val 1739"/>
            </a:avLst>
          </a:prstGeom>
          <a:solidFill>
            <a:srgbClr val="F4F4F6"/>
          </a:solidFill>
          <a:ln/>
        </p:spPr>
      </p:sp>
      <p:sp>
        <p:nvSpPr>
          <p:cNvPr id="9" name="Shape 6"/>
          <p:cNvSpPr/>
          <p:nvPr/>
        </p:nvSpPr>
        <p:spPr>
          <a:xfrm>
            <a:off x="749808" y="2761488"/>
            <a:ext cx="118872" cy="118872"/>
          </a:xfrm>
          <a:prstGeom prst="ellipse">
            <a:avLst/>
          </a:prstGeom>
          <a:solidFill>
            <a:srgbClr val="C00000"/>
          </a:solidFill>
          <a:ln/>
        </p:spPr>
      </p:sp>
      <p:sp>
        <p:nvSpPr>
          <p:cNvPr id="10" name="Text 7"/>
          <p:cNvSpPr/>
          <p:nvPr/>
        </p:nvSpPr>
        <p:spPr>
          <a:xfrm>
            <a:off x="969264" y="2633472"/>
            <a:ext cx="2990088" cy="105156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Fix payment-method &amp; discount data capture at POS across all branches</a:t>
            </a:r>
            <a:endParaRPr lang="en-US" sz="1100" dirty="0"/>
          </a:p>
        </p:txBody>
      </p:sp>
      <p:sp>
        <p:nvSpPr>
          <p:cNvPr id="11" name="Shape 8"/>
          <p:cNvSpPr/>
          <p:nvPr/>
        </p:nvSpPr>
        <p:spPr>
          <a:xfrm>
            <a:off x="749808" y="3767328"/>
            <a:ext cx="118872" cy="118872"/>
          </a:xfrm>
          <a:prstGeom prst="ellipse">
            <a:avLst/>
          </a:prstGeom>
          <a:solidFill>
            <a:srgbClr val="C00000"/>
          </a:solidFill>
          <a:ln/>
        </p:spPr>
      </p:sp>
      <p:sp>
        <p:nvSpPr>
          <p:cNvPr id="12" name="Text 9"/>
          <p:cNvSpPr/>
          <p:nvPr/>
        </p:nvSpPr>
        <p:spPr>
          <a:xfrm>
            <a:off x="969264" y="3639312"/>
            <a:ext cx="2990088" cy="105156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Launch mid-quarter promotion pilot for June/March seasonal dip</a:t>
            </a:r>
            <a:endParaRPr lang="en-US" sz="1100" dirty="0"/>
          </a:p>
        </p:txBody>
      </p:sp>
      <p:sp>
        <p:nvSpPr>
          <p:cNvPr id="13" name="Shape 10"/>
          <p:cNvSpPr/>
          <p:nvPr/>
        </p:nvSpPr>
        <p:spPr>
          <a:xfrm>
            <a:off x="749808" y="4773168"/>
            <a:ext cx="118872" cy="118872"/>
          </a:xfrm>
          <a:prstGeom prst="ellipse">
            <a:avLst/>
          </a:prstGeom>
          <a:solidFill>
            <a:srgbClr val="C00000"/>
          </a:solidFill>
          <a:ln/>
        </p:spPr>
      </p:sp>
      <p:sp>
        <p:nvSpPr>
          <p:cNvPr id="14" name="Text 11"/>
          <p:cNvSpPr/>
          <p:nvPr/>
        </p:nvSpPr>
        <p:spPr>
          <a:xfrm>
            <a:off x="969264" y="4645152"/>
            <a:ext cx="2990088" cy="105156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Audit Lagos Island &amp; Kano basket-building practices vs. Port Harcourt</a:t>
            </a:r>
            <a:endParaRPr lang="en-US" sz="1100" dirty="0"/>
          </a:p>
        </p:txBody>
      </p:sp>
      <p:sp>
        <p:nvSpPr>
          <p:cNvPr id="15" name="Shape 12"/>
          <p:cNvSpPr/>
          <p:nvPr/>
        </p:nvSpPr>
        <p:spPr>
          <a:xfrm>
            <a:off x="4315968" y="1463040"/>
            <a:ext cx="3584448" cy="868680"/>
          </a:xfrm>
          <a:prstGeom prst="roundRect">
            <a:avLst>
              <a:gd name="adj" fmla="val 6316"/>
            </a:avLst>
          </a:prstGeom>
          <a:solidFill>
            <a:srgbClr val="1E2761"/>
          </a:solidFill>
          <a:ln/>
        </p:spPr>
      </p:sp>
      <p:pic>
        <p:nvPicPr>
          <p:cNvPr id="16" name="Image 1" descr="/home/claude/build/icons/clipboard_white.png"/>
          <p:cNvPicPr>
            <a:picLocks noChangeAspect="1"/>
          </p:cNvPicPr>
          <p:nvPr/>
        </p:nvPicPr>
        <p:blipFill>
          <a:blip r:embed="rId4"/>
          <a:stretch>
            <a:fillRect/>
          </a:stretch>
        </p:blipFill>
        <p:spPr>
          <a:xfrm>
            <a:off x="4544568" y="1664208"/>
            <a:ext cx="457200" cy="457200"/>
          </a:xfrm>
          <a:prstGeom prst="rect">
            <a:avLst/>
          </a:prstGeom>
        </p:spPr>
      </p:pic>
      <p:sp>
        <p:nvSpPr>
          <p:cNvPr id="17" name="Text 13"/>
          <p:cNvSpPr/>
          <p:nvPr/>
        </p:nvSpPr>
        <p:spPr>
          <a:xfrm>
            <a:off x="5138928" y="1581912"/>
            <a:ext cx="2578608"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MEDIUM-TERM</a:t>
            </a:r>
            <a:endParaRPr lang="en-US" sz="1400" dirty="0"/>
          </a:p>
        </p:txBody>
      </p:sp>
      <p:sp>
        <p:nvSpPr>
          <p:cNvPr id="18" name="Text 14"/>
          <p:cNvSpPr/>
          <p:nvPr/>
        </p:nvSpPr>
        <p:spPr>
          <a:xfrm>
            <a:off x="5138928" y="1901952"/>
            <a:ext cx="2578608" cy="320040"/>
          </a:xfrm>
          <a:prstGeom prst="rect">
            <a:avLst/>
          </a:prstGeom>
          <a:noFill/>
          <a:ln/>
        </p:spPr>
        <p:txBody>
          <a:bodyPr wrap="square" rtlCol="0" anchor="ctr"/>
          <a:lstStyle/>
          <a:p>
            <a:pPr marL="0" indent="0">
              <a:buNone/>
            </a:pPr>
            <a:r>
              <a:rPr lang="en-US" sz="1100" dirty="0">
                <a:solidFill>
                  <a:srgbClr val="DCE1F5"/>
                </a:solidFill>
                <a:latin typeface="Calibri" pitchFamily="34" charset="0"/>
                <a:ea typeface="Calibri" pitchFamily="34" charset="-122"/>
                <a:cs typeface="Calibri" pitchFamily="34" charset="-120"/>
              </a:rPr>
              <a:t>3-9 Months</a:t>
            </a:r>
            <a:endParaRPr lang="en-US" sz="1100" dirty="0"/>
          </a:p>
        </p:txBody>
      </p:sp>
      <p:sp>
        <p:nvSpPr>
          <p:cNvPr id="19" name="Shape 15"/>
          <p:cNvSpPr/>
          <p:nvPr/>
        </p:nvSpPr>
        <p:spPr>
          <a:xfrm>
            <a:off x="4315968" y="2468880"/>
            <a:ext cx="3584448" cy="3154680"/>
          </a:xfrm>
          <a:prstGeom prst="roundRect">
            <a:avLst>
              <a:gd name="adj" fmla="val 1739"/>
            </a:avLst>
          </a:prstGeom>
          <a:solidFill>
            <a:srgbClr val="F4F4F6"/>
          </a:solidFill>
          <a:ln/>
        </p:spPr>
      </p:sp>
      <p:sp>
        <p:nvSpPr>
          <p:cNvPr id="20" name="Shape 16"/>
          <p:cNvSpPr/>
          <p:nvPr/>
        </p:nvSpPr>
        <p:spPr>
          <a:xfrm>
            <a:off x="4517136" y="2761488"/>
            <a:ext cx="118872" cy="118872"/>
          </a:xfrm>
          <a:prstGeom prst="ellipse">
            <a:avLst/>
          </a:prstGeom>
          <a:solidFill>
            <a:srgbClr val="1E2761"/>
          </a:solidFill>
          <a:ln/>
        </p:spPr>
      </p:sp>
      <p:sp>
        <p:nvSpPr>
          <p:cNvPr id="21" name="Text 17"/>
          <p:cNvSpPr/>
          <p:nvPr/>
        </p:nvSpPr>
        <p:spPr>
          <a:xfrm>
            <a:off x="4736592" y="2633472"/>
            <a:ext cx="2990088" cy="105156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Re-baseline category-level sales targets using 2-year actuals by branch</a:t>
            </a:r>
            <a:endParaRPr lang="en-US" sz="1100" dirty="0"/>
          </a:p>
        </p:txBody>
      </p:sp>
      <p:sp>
        <p:nvSpPr>
          <p:cNvPr id="22" name="Shape 18"/>
          <p:cNvSpPr/>
          <p:nvPr/>
        </p:nvSpPr>
        <p:spPr>
          <a:xfrm>
            <a:off x="4517136" y="3767328"/>
            <a:ext cx="118872" cy="118872"/>
          </a:xfrm>
          <a:prstGeom prst="ellipse">
            <a:avLst/>
          </a:prstGeom>
          <a:solidFill>
            <a:srgbClr val="1E2761"/>
          </a:solidFill>
          <a:ln/>
        </p:spPr>
      </p:sp>
      <p:sp>
        <p:nvSpPr>
          <p:cNvPr id="23" name="Text 19"/>
          <p:cNvSpPr/>
          <p:nvPr/>
        </p:nvSpPr>
        <p:spPr>
          <a:xfrm>
            <a:off x="4736592" y="3639312"/>
            <a:ext cx="2990088" cy="105156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Roll out upsell/cross-sell training using Port Harcourt &amp; Abuja Central playbooks</a:t>
            </a:r>
            <a:endParaRPr lang="en-US" sz="1100" dirty="0"/>
          </a:p>
        </p:txBody>
      </p:sp>
      <p:sp>
        <p:nvSpPr>
          <p:cNvPr id="24" name="Shape 20"/>
          <p:cNvSpPr/>
          <p:nvPr/>
        </p:nvSpPr>
        <p:spPr>
          <a:xfrm>
            <a:off x="4517136" y="4773168"/>
            <a:ext cx="118872" cy="118872"/>
          </a:xfrm>
          <a:prstGeom prst="ellipse">
            <a:avLst/>
          </a:prstGeom>
          <a:solidFill>
            <a:srgbClr val="1E2761"/>
          </a:solidFill>
          <a:ln/>
        </p:spPr>
      </p:sp>
      <p:sp>
        <p:nvSpPr>
          <p:cNvPr id="25" name="Text 21"/>
          <p:cNvSpPr/>
          <p:nvPr/>
        </p:nvSpPr>
        <p:spPr>
          <a:xfrm>
            <a:off x="4736592" y="4645152"/>
            <a:ext cx="2990088" cy="105156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Standardize satisfaction &amp; return-flag data entry to eliminate column-mapping errors</a:t>
            </a:r>
            <a:endParaRPr lang="en-US" sz="1100" dirty="0"/>
          </a:p>
        </p:txBody>
      </p:sp>
      <p:sp>
        <p:nvSpPr>
          <p:cNvPr id="26" name="Shape 22"/>
          <p:cNvSpPr/>
          <p:nvPr/>
        </p:nvSpPr>
        <p:spPr>
          <a:xfrm>
            <a:off x="8083296" y="1463040"/>
            <a:ext cx="3584448" cy="868680"/>
          </a:xfrm>
          <a:prstGeom prst="roundRect">
            <a:avLst>
              <a:gd name="adj" fmla="val 6316"/>
            </a:avLst>
          </a:prstGeom>
          <a:solidFill>
            <a:srgbClr val="4A57A8"/>
          </a:solidFill>
          <a:ln/>
        </p:spPr>
      </p:sp>
      <p:pic>
        <p:nvPicPr>
          <p:cNvPr id="27" name="Image 2" descr="/home/claude/build/icons/chartline_white.png"/>
          <p:cNvPicPr>
            <a:picLocks noChangeAspect="1"/>
          </p:cNvPicPr>
          <p:nvPr/>
        </p:nvPicPr>
        <p:blipFill>
          <a:blip r:embed="rId5"/>
          <a:stretch>
            <a:fillRect/>
          </a:stretch>
        </p:blipFill>
        <p:spPr>
          <a:xfrm>
            <a:off x="8311896" y="1664208"/>
            <a:ext cx="457200" cy="457200"/>
          </a:xfrm>
          <a:prstGeom prst="rect">
            <a:avLst/>
          </a:prstGeom>
        </p:spPr>
      </p:pic>
      <p:sp>
        <p:nvSpPr>
          <p:cNvPr id="28" name="Text 23"/>
          <p:cNvSpPr/>
          <p:nvPr/>
        </p:nvSpPr>
        <p:spPr>
          <a:xfrm>
            <a:off x="8906256" y="1581912"/>
            <a:ext cx="2578608"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LONG-TERM</a:t>
            </a:r>
            <a:endParaRPr lang="en-US" sz="1400" dirty="0"/>
          </a:p>
        </p:txBody>
      </p:sp>
      <p:sp>
        <p:nvSpPr>
          <p:cNvPr id="29" name="Text 24"/>
          <p:cNvSpPr/>
          <p:nvPr/>
        </p:nvSpPr>
        <p:spPr>
          <a:xfrm>
            <a:off x="8906256" y="1901952"/>
            <a:ext cx="2578608" cy="320040"/>
          </a:xfrm>
          <a:prstGeom prst="rect">
            <a:avLst/>
          </a:prstGeom>
          <a:noFill/>
          <a:ln/>
        </p:spPr>
        <p:txBody>
          <a:bodyPr wrap="square" rtlCol="0" anchor="ctr"/>
          <a:lstStyle/>
          <a:p>
            <a:pPr marL="0" indent="0">
              <a:buNone/>
            </a:pPr>
            <a:r>
              <a:rPr lang="en-US" sz="1100" dirty="0">
                <a:solidFill>
                  <a:srgbClr val="DCE1F5"/>
                </a:solidFill>
                <a:latin typeface="Calibri" pitchFamily="34" charset="0"/>
                <a:ea typeface="Calibri" pitchFamily="34" charset="-122"/>
                <a:cs typeface="Calibri" pitchFamily="34" charset="-120"/>
              </a:rPr>
              <a:t>9-18 Months</a:t>
            </a:r>
            <a:endParaRPr lang="en-US" sz="1100" dirty="0"/>
          </a:p>
        </p:txBody>
      </p:sp>
      <p:sp>
        <p:nvSpPr>
          <p:cNvPr id="30" name="Shape 25"/>
          <p:cNvSpPr/>
          <p:nvPr/>
        </p:nvSpPr>
        <p:spPr>
          <a:xfrm>
            <a:off x="8083296" y="2468880"/>
            <a:ext cx="3584448" cy="3154680"/>
          </a:xfrm>
          <a:prstGeom prst="roundRect">
            <a:avLst>
              <a:gd name="adj" fmla="val 1739"/>
            </a:avLst>
          </a:prstGeom>
          <a:solidFill>
            <a:srgbClr val="F4F4F6"/>
          </a:solidFill>
          <a:ln/>
        </p:spPr>
      </p:sp>
      <p:sp>
        <p:nvSpPr>
          <p:cNvPr id="31" name="Shape 26"/>
          <p:cNvSpPr/>
          <p:nvPr/>
        </p:nvSpPr>
        <p:spPr>
          <a:xfrm>
            <a:off x="8284464" y="2761488"/>
            <a:ext cx="118872" cy="118872"/>
          </a:xfrm>
          <a:prstGeom prst="ellipse">
            <a:avLst/>
          </a:prstGeom>
          <a:solidFill>
            <a:srgbClr val="4A57A8"/>
          </a:solidFill>
          <a:ln/>
        </p:spPr>
      </p:sp>
      <p:sp>
        <p:nvSpPr>
          <p:cNvPr id="32" name="Text 27"/>
          <p:cNvSpPr/>
          <p:nvPr/>
        </p:nvSpPr>
        <p:spPr>
          <a:xfrm>
            <a:off x="8503920" y="2633472"/>
            <a:ext cx="2990088" cy="105156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Build a live branch performance dashboard (Excel-based) refreshed monthly for HQ</a:t>
            </a:r>
            <a:endParaRPr lang="en-US" sz="1100" dirty="0"/>
          </a:p>
        </p:txBody>
      </p:sp>
      <p:sp>
        <p:nvSpPr>
          <p:cNvPr id="33" name="Shape 28"/>
          <p:cNvSpPr/>
          <p:nvPr/>
        </p:nvSpPr>
        <p:spPr>
          <a:xfrm>
            <a:off x="8284464" y="3767328"/>
            <a:ext cx="118872" cy="118872"/>
          </a:xfrm>
          <a:prstGeom prst="ellipse">
            <a:avLst/>
          </a:prstGeom>
          <a:solidFill>
            <a:srgbClr val="4A57A8"/>
          </a:solidFill>
          <a:ln/>
        </p:spPr>
      </p:sp>
      <p:sp>
        <p:nvSpPr>
          <p:cNvPr id="34" name="Text 29"/>
          <p:cNvSpPr/>
          <p:nvPr/>
        </p:nvSpPr>
        <p:spPr>
          <a:xfrm>
            <a:off x="8503920" y="3639312"/>
            <a:ext cx="2990088" cy="105156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Develop a Port Harcourt business-continuity / risk-mitigation plan</a:t>
            </a:r>
            <a:endParaRPr lang="en-US" sz="1100" dirty="0"/>
          </a:p>
        </p:txBody>
      </p:sp>
      <p:sp>
        <p:nvSpPr>
          <p:cNvPr id="35" name="Shape 30"/>
          <p:cNvSpPr/>
          <p:nvPr/>
        </p:nvSpPr>
        <p:spPr>
          <a:xfrm>
            <a:off x="8284464" y="4773168"/>
            <a:ext cx="118872" cy="118872"/>
          </a:xfrm>
          <a:prstGeom prst="ellipse">
            <a:avLst/>
          </a:prstGeom>
          <a:solidFill>
            <a:srgbClr val="4A57A8"/>
          </a:solidFill>
          <a:ln/>
        </p:spPr>
      </p:sp>
      <p:sp>
        <p:nvSpPr>
          <p:cNvPr id="36" name="Text 31"/>
          <p:cNvSpPr/>
          <p:nvPr/>
        </p:nvSpPr>
        <p:spPr>
          <a:xfrm>
            <a:off x="8503920" y="4645152"/>
            <a:ext cx="2990088" cy="1051560"/>
          </a:xfrm>
          <a:prstGeom prst="rect">
            <a:avLst/>
          </a:prstGeom>
          <a:noFill/>
          <a:ln/>
        </p:spPr>
        <p:txBody>
          <a:bodyPr wrap="square" rtlCol="0" anchor="ctr"/>
          <a:lstStyle/>
          <a:p>
            <a:pPr marL="0" indent="0">
              <a:lnSpc>
                <a:spcPct val="115000"/>
              </a:lnSpc>
              <a:buNone/>
            </a:pPr>
            <a:r>
              <a:rPr lang="en-US" sz="1100" dirty="0">
                <a:solidFill>
                  <a:srgbClr val="333333"/>
                </a:solidFill>
                <a:latin typeface="Calibri" pitchFamily="34" charset="0"/>
                <a:ea typeface="Calibri" pitchFamily="34" charset="-122"/>
                <a:cs typeface="Calibri" pitchFamily="34" charset="-120"/>
              </a:rPr>
              <a:t>Re-evaluate category assortment mix in underperforming categories (Groceries, Cosmetics)</a:t>
            </a:r>
            <a:endParaRPr lang="en-US" sz="1100" dirty="0"/>
          </a:p>
        </p:txBody>
      </p:sp>
      <p:sp>
        <p:nvSpPr>
          <p:cNvPr id="37" name="Shape 32"/>
          <p:cNvSpPr/>
          <p:nvPr/>
        </p:nvSpPr>
        <p:spPr>
          <a:xfrm>
            <a:off x="548640" y="5806440"/>
            <a:ext cx="11109960" cy="594360"/>
          </a:xfrm>
          <a:prstGeom prst="roundRect">
            <a:avLst>
              <a:gd name="adj" fmla="val 7692"/>
            </a:avLst>
          </a:prstGeom>
          <a:solidFill>
            <a:srgbClr val="1E2761"/>
          </a:solidFill>
          <a:ln/>
        </p:spPr>
      </p:sp>
      <p:sp>
        <p:nvSpPr>
          <p:cNvPr id="38" name="Text 33"/>
          <p:cNvSpPr/>
          <p:nvPr/>
        </p:nvSpPr>
        <p:spPr>
          <a:xfrm>
            <a:off x="777240" y="5806440"/>
            <a:ext cx="10698480" cy="594360"/>
          </a:xfrm>
          <a:prstGeom prst="rect">
            <a:avLst/>
          </a:prstGeom>
          <a:noFill/>
          <a:ln/>
        </p:spPr>
        <p:txBody>
          <a:bodyPr wrap="square" rtlCol="0" anchor="ctr"/>
          <a:lstStyle/>
          <a:p>
            <a:pPr marL="0" indent="0">
              <a:buNone/>
            </a:pPr>
            <a:r>
              <a:rPr lang="en-US" sz="1100" b="1" dirty="0">
                <a:solidFill>
                  <a:srgbClr val="FFB3AB"/>
                </a:solidFill>
                <a:latin typeface="Calibri" pitchFamily="34" charset="0"/>
                <a:ea typeface="Calibri" pitchFamily="34" charset="-122"/>
                <a:cs typeface="Calibri" pitchFamily="34" charset="-120"/>
              </a:rPr>
              <a:t>Ownership: </a:t>
            </a:r>
            <a:r>
              <a:rPr lang="en-US" sz="1100" dirty="0">
                <a:solidFill>
                  <a:srgbClr val="FFFFFF"/>
                </a:solidFill>
                <a:latin typeface="Calibri" pitchFamily="34" charset="0"/>
                <a:ea typeface="Calibri" pitchFamily="34" charset="-122"/>
                <a:cs typeface="Calibri" pitchFamily="34" charset="-120"/>
              </a:rPr>
              <a:t>Short-term actions sit with branch managers and the POS/IT team; medium-term with Category &amp; Operations leads; long-term with the COO's office and the Analytics Team.</a:t>
            </a:r>
            <a:endParaRPr lang="en-US" sz="1100" dirty="0"/>
          </a:p>
        </p:txBody>
      </p:sp>
      <p:sp>
        <p:nvSpPr>
          <p:cNvPr id="39" name="Text 34"/>
          <p:cNvSpPr/>
          <p:nvPr/>
        </p:nvSpPr>
        <p:spPr>
          <a:xfrm>
            <a:off x="45720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40" name="Text 35"/>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058400" y="-1828800"/>
            <a:ext cx="5029200" cy="5029200"/>
          </a:xfrm>
          <a:prstGeom prst="ellipse">
            <a:avLst/>
          </a:prstGeom>
          <a:solidFill>
            <a:srgbClr val="141B47">
              <a:alpha val="65000"/>
            </a:srgbClr>
          </a:solidFill>
          <a:ln/>
        </p:spPr>
      </p:sp>
      <p:sp>
        <p:nvSpPr>
          <p:cNvPr id="3" name="Text 1"/>
          <p:cNvSpPr/>
          <p:nvPr/>
        </p:nvSpPr>
        <p:spPr>
          <a:xfrm>
            <a:off x="548640" y="411480"/>
            <a:ext cx="7315200" cy="274320"/>
          </a:xfrm>
          <a:prstGeom prst="rect">
            <a:avLst/>
          </a:prstGeom>
          <a:noFill/>
          <a:ln/>
        </p:spPr>
        <p:txBody>
          <a:bodyPr wrap="square" rtlCol="0" anchor="ctr"/>
          <a:lstStyle/>
          <a:p>
            <a:pPr marL="0" indent="0">
              <a:buNone/>
            </a:pPr>
            <a:r>
              <a:rPr lang="en-US" sz="1200" b="1" kern="0" spc="200" dirty="0">
                <a:solidFill>
                  <a:srgbClr val="FFB3AB"/>
                </a:solidFill>
                <a:latin typeface="Calibri" pitchFamily="34" charset="0"/>
                <a:ea typeface="Calibri" pitchFamily="34" charset="-122"/>
                <a:cs typeface="Calibri" pitchFamily="34" charset="-120"/>
              </a:rPr>
              <a:t>EXECUTIVE SUMMARY</a:t>
            </a:r>
            <a:endParaRPr lang="en-US" sz="1200" dirty="0"/>
          </a:p>
        </p:txBody>
      </p:sp>
      <p:sp>
        <p:nvSpPr>
          <p:cNvPr id="4" name="Text 2"/>
          <p:cNvSpPr/>
          <p:nvPr/>
        </p:nvSpPr>
        <p:spPr>
          <a:xfrm>
            <a:off x="548640" y="658368"/>
            <a:ext cx="100584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For the COO &amp; Board Review</a:t>
            </a:r>
            <a:endParaRPr lang="en-US" sz="2600" dirty="0"/>
          </a:p>
        </p:txBody>
      </p:sp>
      <p:sp>
        <p:nvSpPr>
          <p:cNvPr id="5" name="Text 3"/>
          <p:cNvSpPr/>
          <p:nvPr/>
        </p:nvSpPr>
        <p:spPr>
          <a:xfrm>
            <a:off x="548640" y="1508760"/>
            <a:ext cx="5394960" cy="292608"/>
          </a:xfrm>
          <a:prstGeom prst="rect">
            <a:avLst/>
          </a:prstGeom>
          <a:noFill/>
          <a:ln/>
        </p:spPr>
        <p:txBody>
          <a:bodyPr wrap="square" rtlCol="0" anchor="ctr"/>
          <a:lstStyle/>
          <a:p>
            <a:pPr marL="0" indent="0">
              <a:buNone/>
            </a:pPr>
            <a:r>
              <a:rPr lang="en-US" sz="1400" b="1" dirty="0">
                <a:solidFill>
                  <a:srgbClr val="FFB3AB"/>
                </a:solidFill>
                <a:latin typeface="Calibri" pitchFamily="34" charset="0"/>
                <a:ea typeface="Calibri" pitchFamily="34" charset="-122"/>
                <a:cs typeface="Calibri" pitchFamily="34" charset="-120"/>
              </a:rPr>
              <a:t>Current Position</a:t>
            </a:r>
            <a:endParaRPr lang="en-US" sz="1400" dirty="0"/>
          </a:p>
        </p:txBody>
      </p:sp>
      <p:sp>
        <p:nvSpPr>
          <p:cNvPr id="6" name="Text 4"/>
          <p:cNvSpPr/>
          <p:nvPr/>
        </p:nvSpPr>
        <p:spPr>
          <a:xfrm>
            <a:off x="548640" y="1828800"/>
            <a:ext cx="5394960" cy="1417320"/>
          </a:xfrm>
          <a:prstGeom prst="rect">
            <a:avLst/>
          </a:prstGeom>
          <a:noFill/>
          <a:ln/>
        </p:spPr>
        <p:txBody>
          <a:bodyPr wrap="square" rtlCol="0" anchor="ctr"/>
          <a:lstStyle/>
          <a:p>
            <a:pPr marL="0" indent="0">
              <a:lnSpc>
                <a:spcPct val="120000"/>
              </a:lnSpc>
              <a:buNone/>
            </a:pPr>
            <a:r>
              <a:rPr lang="en-US" sz="1150" dirty="0">
                <a:solidFill>
                  <a:srgbClr val="DCE1F5"/>
                </a:solidFill>
                <a:latin typeface="Calibri" pitchFamily="34" charset="0"/>
                <a:ea typeface="Calibri" pitchFamily="34" charset="-122"/>
                <a:cs typeface="Calibri" pitchFamily="34" charset="-120"/>
              </a:rPr>
              <a:t>ZenithMart closed FY2024 at </a:t>
            </a:r>
            <a:r>
              <a:rPr lang="en-US" sz="1150" b="1" dirty="0">
                <a:solidFill>
                  <a:srgbClr val="FFFFFF"/>
                </a:solidFill>
                <a:latin typeface="Calibri" pitchFamily="34" charset="0"/>
                <a:ea typeface="Calibri" pitchFamily="34" charset="-122"/>
                <a:cs typeface="Calibri" pitchFamily="34" charset="-120"/>
              </a:rPr>
              <a:t>NGN 3.76B in group sales (104.1% of target)</a:t>
            </a:r>
            <a:r>
              <a:rPr lang="en-US" sz="1150" dirty="0">
                <a:solidFill>
                  <a:srgbClr val="DCE1F5"/>
                </a:solidFill>
                <a:latin typeface="Calibri" pitchFamily="34" charset="0"/>
                <a:ea typeface="Calibri" pitchFamily="34" charset="-122"/>
                <a:cs typeface="Calibri" pitchFamily="34" charset="-120"/>
              </a:rPr>
              <a:t>, but growth was nearly flat year-on-year (+3.1%). Target achievement is being carried entirely by Electronics and Home Appliances overshoot, masking real category-level underperformance in Groceries and Cosmetics.</a:t>
            </a:r>
            <a:endParaRPr lang="en-US" sz="1150" dirty="0"/>
          </a:p>
        </p:txBody>
      </p:sp>
      <p:sp>
        <p:nvSpPr>
          <p:cNvPr id="7" name="Text 5"/>
          <p:cNvSpPr/>
          <p:nvPr/>
        </p:nvSpPr>
        <p:spPr>
          <a:xfrm>
            <a:off x="548640" y="3337560"/>
            <a:ext cx="5394960" cy="292608"/>
          </a:xfrm>
          <a:prstGeom prst="rect">
            <a:avLst/>
          </a:prstGeom>
          <a:noFill/>
          <a:ln/>
        </p:spPr>
        <p:txBody>
          <a:bodyPr wrap="square" rtlCol="0" anchor="ctr"/>
          <a:lstStyle/>
          <a:p>
            <a:pPr marL="0" indent="0">
              <a:buNone/>
            </a:pPr>
            <a:r>
              <a:rPr lang="en-US" sz="1400" b="1" dirty="0">
                <a:solidFill>
                  <a:srgbClr val="FFB3AB"/>
                </a:solidFill>
                <a:latin typeface="Calibri" pitchFamily="34" charset="0"/>
                <a:ea typeface="Calibri" pitchFamily="34" charset="-122"/>
                <a:cs typeface="Calibri" pitchFamily="34" charset="-120"/>
              </a:rPr>
              <a:t>Major Findings</a:t>
            </a:r>
            <a:endParaRPr lang="en-US" sz="1400" dirty="0"/>
          </a:p>
        </p:txBody>
      </p:sp>
      <p:sp>
        <p:nvSpPr>
          <p:cNvPr id="8" name="Shape 6"/>
          <p:cNvSpPr/>
          <p:nvPr/>
        </p:nvSpPr>
        <p:spPr>
          <a:xfrm>
            <a:off x="548640" y="3712464"/>
            <a:ext cx="91440" cy="91440"/>
          </a:xfrm>
          <a:prstGeom prst="ellipse">
            <a:avLst/>
          </a:prstGeom>
          <a:solidFill>
            <a:srgbClr val="FFB3AB"/>
          </a:solidFill>
          <a:ln/>
        </p:spPr>
      </p:sp>
      <p:sp>
        <p:nvSpPr>
          <p:cNvPr id="9" name="Text 7"/>
          <p:cNvSpPr/>
          <p:nvPr/>
        </p:nvSpPr>
        <p:spPr>
          <a:xfrm>
            <a:off x="777240" y="3611880"/>
            <a:ext cx="5212080" cy="502920"/>
          </a:xfrm>
          <a:prstGeom prst="rect">
            <a:avLst/>
          </a:prstGeom>
          <a:noFill/>
          <a:ln/>
        </p:spPr>
        <p:txBody>
          <a:bodyPr wrap="square" rtlCol="0" anchor="ctr"/>
          <a:lstStyle/>
          <a:p>
            <a:pPr marL="0" indent="0">
              <a:lnSpc>
                <a:spcPct val="110000"/>
              </a:lnSpc>
              <a:buNone/>
            </a:pPr>
            <a:r>
              <a:rPr lang="en-US" sz="1050" dirty="0">
                <a:solidFill>
                  <a:srgbClr val="DCE1F5"/>
                </a:solidFill>
                <a:latin typeface="Calibri" pitchFamily="34" charset="0"/>
                <a:ea typeface="Calibri" pitchFamily="34" charset="-122"/>
                <a:cs typeface="Calibri" pitchFamily="34" charset="-120"/>
              </a:rPr>
              <a:t>Port Harcourt leads (NGN 861.7M, 112.4% of target); Lagos Island is the only branch below target (97.6%).</a:t>
            </a:r>
            <a:endParaRPr lang="en-US" sz="1050" dirty="0"/>
          </a:p>
        </p:txBody>
      </p:sp>
      <p:sp>
        <p:nvSpPr>
          <p:cNvPr id="10" name="Shape 8"/>
          <p:cNvSpPr/>
          <p:nvPr/>
        </p:nvSpPr>
        <p:spPr>
          <a:xfrm>
            <a:off x="548640" y="4242816"/>
            <a:ext cx="91440" cy="91440"/>
          </a:xfrm>
          <a:prstGeom prst="ellipse">
            <a:avLst/>
          </a:prstGeom>
          <a:solidFill>
            <a:srgbClr val="FFB3AB"/>
          </a:solidFill>
          <a:ln/>
        </p:spPr>
      </p:sp>
      <p:sp>
        <p:nvSpPr>
          <p:cNvPr id="11" name="Text 9"/>
          <p:cNvSpPr/>
          <p:nvPr/>
        </p:nvSpPr>
        <p:spPr>
          <a:xfrm>
            <a:off x="777240" y="4142232"/>
            <a:ext cx="5212080" cy="502920"/>
          </a:xfrm>
          <a:prstGeom prst="rect">
            <a:avLst/>
          </a:prstGeom>
          <a:noFill/>
          <a:ln/>
        </p:spPr>
        <p:txBody>
          <a:bodyPr wrap="square" rtlCol="0" anchor="ctr"/>
          <a:lstStyle/>
          <a:p>
            <a:pPr marL="0" indent="0">
              <a:lnSpc>
                <a:spcPct val="110000"/>
              </a:lnSpc>
              <a:buNone/>
            </a:pPr>
            <a:r>
              <a:rPr lang="en-US" sz="1050" dirty="0">
                <a:solidFill>
                  <a:srgbClr val="DCE1F5"/>
                </a:solidFill>
                <a:latin typeface="Calibri" pitchFamily="34" charset="0"/>
                <a:ea typeface="Calibri" pitchFamily="34" charset="-122"/>
                <a:cs typeface="Calibri" pitchFamily="34" charset="-120"/>
              </a:rPr>
              <a:t>Satisfaction (~3.0/5) and return rate (~28-29%) are flat across branches — basket size is the real differentiator.</a:t>
            </a:r>
            <a:endParaRPr lang="en-US" sz="1050" dirty="0"/>
          </a:p>
        </p:txBody>
      </p:sp>
      <p:sp>
        <p:nvSpPr>
          <p:cNvPr id="12" name="Shape 10"/>
          <p:cNvSpPr/>
          <p:nvPr/>
        </p:nvSpPr>
        <p:spPr>
          <a:xfrm>
            <a:off x="548640" y="4773168"/>
            <a:ext cx="91440" cy="91440"/>
          </a:xfrm>
          <a:prstGeom prst="ellipse">
            <a:avLst/>
          </a:prstGeom>
          <a:solidFill>
            <a:srgbClr val="FFB3AB"/>
          </a:solidFill>
          <a:ln/>
        </p:spPr>
      </p:sp>
      <p:sp>
        <p:nvSpPr>
          <p:cNvPr id="13" name="Text 11"/>
          <p:cNvSpPr/>
          <p:nvPr/>
        </p:nvSpPr>
        <p:spPr>
          <a:xfrm>
            <a:off x="777240" y="4672584"/>
            <a:ext cx="5212080" cy="502920"/>
          </a:xfrm>
          <a:prstGeom prst="rect">
            <a:avLst/>
          </a:prstGeom>
          <a:noFill/>
          <a:ln/>
        </p:spPr>
        <p:txBody>
          <a:bodyPr wrap="square" rtlCol="0" anchor="ctr"/>
          <a:lstStyle/>
          <a:p>
            <a:pPr marL="0" indent="0">
              <a:lnSpc>
                <a:spcPct val="110000"/>
              </a:lnSpc>
              <a:buNone/>
            </a:pPr>
            <a:r>
              <a:rPr lang="en-US" sz="1050" dirty="0">
                <a:solidFill>
                  <a:srgbClr val="DCE1F5"/>
                </a:solidFill>
                <a:latin typeface="Calibri" pitchFamily="34" charset="0"/>
                <a:ea typeface="Calibri" pitchFamily="34" charset="-122"/>
                <a:cs typeface="Calibri" pitchFamily="34" charset="-120"/>
              </a:rPr>
              <a:t>Targets are structurally miscalibrated: Electronics at 181.5% vs. Groceries at just 22.4% of target.</a:t>
            </a:r>
            <a:endParaRPr lang="en-US" sz="1050" dirty="0"/>
          </a:p>
        </p:txBody>
      </p:sp>
      <p:sp>
        <p:nvSpPr>
          <p:cNvPr id="14" name="Text 12"/>
          <p:cNvSpPr/>
          <p:nvPr/>
        </p:nvSpPr>
        <p:spPr>
          <a:xfrm>
            <a:off x="6263640" y="1508760"/>
            <a:ext cx="5394960" cy="292608"/>
          </a:xfrm>
          <a:prstGeom prst="rect">
            <a:avLst/>
          </a:prstGeom>
          <a:noFill/>
          <a:ln/>
        </p:spPr>
        <p:txBody>
          <a:bodyPr wrap="square" rtlCol="0" anchor="ctr"/>
          <a:lstStyle/>
          <a:p>
            <a:pPr marL="0" indent="0">
              <a:buNone/>
            </a:pPr>
            <a:r>
              <a:rPr lang="en-US" sz="1400" b="1" dirty="0">
                <a:solidFill>
                  <a:srgbClr val="FFB3AB"/>
                </a:solidFill>
                <a:latin typeface="Calibri" pitchFamily="34" charset="0"/>
                <a:ea typeface="Calibri" pitchFamily="34" charset="-122"/>
                <a:cs typeface="Calibri" pitchFamily="34" charset="-120"/>
              </a:rPr>
              <a:t>Strategic Priorities</a:t>
            </a:r>
            <a:endParaRPr lang="en-US" sz="1400" dirty="0"/>
          </a:p>
        </p:txBody>
      </p:sp>
      <p:sp>
        <p:nvSpPr>
          <p:cNvPr id="15" name="Shape 13"/>
          <p:cNvSpPr/>
          <p:nvPr/>
        </p:nvSpPr>
        <p:spPr>
          <a:xfrm>
            <a:off x="6263640" y="1828800"/>
            <a:ext cx="365760" cy="365760"/>
          </a:xfrm>
          <a:prstGeom prst="ellipse">
            <a:avLst/>
          </a:prstGeom>
          <a:solidFill>
            <a:srgbClr val="C00000"/>
          </a:solidFill>
          <a:ln/>
        </p:spPr>
      </p:sp>
      <p:sp>
        <p:nvSpPr>
          <p:cNvPr id="16" name="Text 14"/>
          <p:cNvSpPr/>
          <p:nvPr/>
        </p:nvSpPr>
        <p:spPr>
          <a:xfrm>
            <a:off x="6263640" y="1828800"/>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7" name="Text 15"/>
          <p:cNvSpPr/>
          <p:nvPr/>
        </p:nvSpPr>
        <p:spPr>
          <a:xfrm>
            <a:off x="6766560" y="1801368"/>
            <a:ext cx="4709160" cy="457200"/>
          </a:xfrm>
          <a:prstGeom prst="rect">
            <a:avLst/>
          </a:prstGeom>
          <a:noFill/>
          <a:ln/>
        </p:spPr>
        <p:txBody>
          <a:bodyPr wrap="square" rtlCol="0" anchor="ctr"/>
          <a:lstStyle/>
          <a:p>
            <a:pPr marL="0" indent="0">
              <a:lnSpc>
                <a:spcPct val="105000"/>
              </a:lnSpc>
              <a:buNone/>
            </a:pPr>
            <a:r>
              <a:rPr lang="en-US" sz="1150" dirty="0">
                <a:solidFill>
                  <a:srgbClr val="FFFFFF"/>
                </a:solidFill>
                <a:latin typeface="Calibri" pitchFamily="34" charset="0"/>
                <a:ea typeface="Calibri" pitchFamily="34" charset="-122"/>
                <a:cs typeface="Calibri" pitchFamily="34" charset="-120"/>
              </a:rPr>
              <a:t>Re-baseline category targets to reflect real 2-year demand patterns</a:t>
            </a:r>
            <a:endParaRPr lang="en-US" sz="1150" dirty="0"/>
          </a:p>
        </p:txBody>
      </p:sp>
      <p:sp>
        <p:nvSpPr>
          <p:cNvPr id="18" name="Shape 16"/>
          <p:cNvSpPr/>
          <p:nvPr/>
        </p:nvSpPr>
        <p:spPr>
          <a:xfrm>
            <a:off x="6263640" y="2395728"/>
            <a:ext cx="365760" cy="365760"/>
          </a:xfrm>
          <a:prstGeom prst="ellipse">
            <a:avLst/>
          </a:prstGeom>
          <a:solidFill>
            <a:srgbClr val="C00000"/>
          </a:solidFill>
          <a:ln/>
        </p:spPr>
      </p:sp>
      <p:sp>
        <p:nvSpPr>
          <p:cNvPr id="19" name="Text 17"/>
          <p:cNvSpPr/>
          <p:nvPr/>
        </p:nvSpPr>
        <p:spPr>
          <a:xfrm>
            <a:off x="6263640" y="2395728"/>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p:nvPr/>
        </p:nvSpPr>
        <p:spPr>
          <a:xfrm>
            <a:off x="6766560" y="2368296"/>
            <a:ext cx="4709160" cy="457200"/>
          </a:xfrm>
          <a:prstGeom prst="rect">
            <a:avLst/>
          </a:prstGeom>
          <a:noFill/>
          <a:ln/>
        </p:spPr>
        <p:txBody>
          <a:bodyPr wrap="square" rtlCol="0" anchor="ctr"/>
          <a:lstStyle/>
          <a:p>
            <a:pPr marL="0" indent="0">
              <a:lnSpc>
                <a:spcPct val="105000"/>
              </a:lnSpc>
              <a:buNone/>
            </a:pPr>
            <a:r>
              <a:rPr lang="en-US" sz="1150" dirty="0">
                <a:solidFill>
                  <a:srgbClr val="FFFFFF"/>
                </a:solidFill>
                <a:latin typeface="Calibri" pitchFamily="34" charset="0"/>
                <a:ea typeface="Calibri" pitchFamily="34" charset="-122"/>
                <a:cs typeface="Calibri" pitchFamily="34" charset="-120"/>
              </a:rPr>
              <a:t>Close the basket-size gap at Lagos Island and Kano through upsell training</a:t>
            </a:r>
            <a:endParaRPr lang="en-US" sz="1150" dirty="0"/>
          </a:p>
        </p:txBody>
      </p:sp>
      <p:sp>
        <p:nvSpPr>
          <p:cNvPr id="21" name="Shape 19"/>
          <p:cNvSpPr/>
          <p:nvPr/>
        </p:nvSpPr>
        <p:spPr>
          <a:xfrm>
            <a:off x="6263640" y="2962656"/>
            <a:ext cx="365760" cy="365760"/>
          </a:xfrm>
          <a:prstGeom prst="ellipse">
            <a:avLst/>
          </a:prstGeom>
          <a:solidFill>
            <a:srgbClr val="C00000"/>
          </a:solidFill>
          <a:ln/>
        </p:spPr>
      </p:sp>
      <p:sp>
        <p:nvSpPr>
          <p:cNvPr id="22" name="Text 20"/>
          <p:cNvSpPr/>
          <p:nvPr/>
        </p:nvSpPr>
        <p:spPr>
          <a:xfrm>
            <a:off x="6263640" y="2962656"/>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3" name="Text 21"/>
          <p:cNvSpPr/>
          <p:nvPr/>
        </p:nvSpPr>
        <p:spPr>
          <a:xfrm>
            <a:off x="6766560" y="2935224"/>
            <a:ext cx="4709160" cy="457200"/>
          </a:xfrm>
          <a:prstGeom prst="rect">
            <a:avLst/>
          </a:prstGeom>
          <a:noFill/>
          <a:ln/>
        </p:spPr>
        <p:txBody>
          <a:bodyPr wrap="square" rtlCol="0" anchor="ctr"/>
          <a:lstStyle/>
          <a:p>
            <a:pPr marL="0" indent="0">
              <a:lnSpc>
                <a:spcPct val="105000"/>
              </a:lnSpc>
              <a:buNone/>
            </a:pPr>
            <a:r>
              <a:rPr lang="en-US" sz="1150" dirty="0">
                <a:solidFill>
                  <a:srgbClr val="FFFFFF"/>
                </a:solidFill>
                <a:latin typeface="Calibri" pitchFamily="34" charset="0"/>
                <a:ea typeface="Calibri" pitchFamily="34" charset="-122"/>
                <a:cs typeface="Calibri" pitchFamily="34" charset="-120"/>
              </a:rPr>
              <a:t>Protect group revenue against concentration risk at Port Harcourt</a:t>
            </a:r>
            <a:endParaRPr lang="en-US" sz="1150" dirty="0"/>
          </a:p>
        </p:txBody>
      </p:sp>
      <p:sp>
        <p:nvSpPr>
          <p:cNvPr id="24" name="Shape 22"/>
          <p:cNvSpPr/>
          <p:nvPr/>
        </p:nvSpPr>
        <p:spPr>
          <a:xfrm>
            <a:off x="6263640" y="3529584"/>
            <a:ext cx="365760" cy="365760"/>
          </a:xfrm>
          <a:prstGeom prst="ellipse">
            <a:avLst/>
          </a:prstGeom>
          <a:solidFill>
            <a:srgbClr val="C00000"/>
          </a:solidFill>
          <a:ln/>
        </p:spPr>
      </p:sp>
      <p:sp>
        <p:nvSpPr>
          <p:cNvPr id="25" name="Text 23"/>
          <p:cNvSpPr/>
          <p:nvPr/>
        </p:nvSpPr>
        <p:spPr>
          <a:xfrm>
            <a:off x="6263640" y="3529584"/>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6" name="Text 24"/>
          <p:cNvSpPr/>
          <p:nvPr/>
        </p:nvSpPr>
        <p:spPr>
          <a:xfrm>
            <a:off x="6766560" y="3502152"/>
            <a:ext cx="4709160" cy="457200"/>
          </a:xfrm>
          <a:prstGeom prst="rect">
            <a:avLst/>
          </a:prstGeom>
          <a:noFill/>
          <a:ln/>
        </p:spPr>
        <p:txBody>
          <a:bodyPr wrap="square" rtlCol="0" anchor="ctr"/>
          <a:lstStyle/>
          <a:p>
            <a:pPr marL="0" indent="0">
              <a:lnSpc>
                <a:spcPct val="105000"/>
              </a:lnSpc>
              <a:buNone/>
            </a:pPr>
            <a:r>
              <a:rPr lang="en-US" sz="1150" dirty="0">
                <a:solidFill>
                  <a:srgbClr val="FFFFFF"/>
                </a:solidFill>
                <a:latin typeface="Calibri" pitchFamily="34" charset="0"/>
                <a:ea typeface="Calibri" pitchFamily="34" charset="-122"/>
                <a:cs typeface="Calibri" pitchFamily="34" charset="-120"/>
              </a:rPr>
              <a:t>Fix payment &amp; discount data capture to strengthen future analysis</a:t>
            </a:r>
            <a:endParaRPr lang="en-US" sz="1150" dirty="0"/>
          </a:p>
        </p:txBody>
      </p:sp>
      <p:sp>
        <p:nvSpPr>
          <p:cNvPr id="27" name="Shape 25"/>
          <p:cNvSpPr/>
          <p:nvPr/>
        </p:nvSpPr>
        <p:spPr>
          <a:xfrm>
            <a:off x="6263640" y="4160520"/>
            <a:ext cx="5394960" cy="1691640"/>
          </a:xfrm>
          <a:prstGeom prst="roundRect">
            <a:avLst>
              <a:gd name="adj" fmla="val 3784"/>
            </a:avLst>
          </a:prstGeom>
          <a:solidFill>
            <a:srgbClr val="FFFFFF"/>
          </a:solidFill>
          <a:ln/>
        </p:spPr>
      </p:sp>
      <p:sp>
        <p:nvSpPr>
          <p:cNvPr id="28" name="Text 26"/>
          <p:cNvSpPr/>
          <p:nvPr/>
        </p:nvSpPr>
        <p:spPr>
          <a:xfrm>
            <a:off x="6492240" y="4315968"/>
            <a:ext cx="493776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Bottom line for the Board</a:t>
            </a:r>
            <a:endParaRPr lang="en-US" sz="1250" dirty="0"/>
          </a:p>
        </p:txBody>
      </p:sp>
      <p:sp>
        <p:nvSpPr>
          <p:cNvPr id="29" name="Text 27"/>
          <p:cNvSpPr/>
          <p:nvPr/>
        </p:nvSpPr>
        <p:spPr>
          <a:xfrm>
            <a:off x="6492240" y="4617720"/>
            <a:ext cx="4937760" cy="1143000"/>
          </a:xfrm>
          <a:prstGeom prst="rect">
            <a:avLst/>
          </a:prstGeom>
          <a:noFill/>
          <a:ln/>
        </p:spPr>
        <p:txBody>
          <a:bodyPr wrap="square" rtlCol="0" anchor="ctr"/>
          <a:lstStyle/>
          <a:p>
            <a:pPr marL="0" indent="0">
              <a:lnSpc>
                <a:spcPct val="120000"/>
              </a:lnSpc>
              <a:buNone/>
            </a:pPr>
            <a:r>
              <a:rPr lang="en-US" sz="1100" dirty="0">
                <a:solidFill>
                  <a:srgbClr val="333333"/>
                </a:solidFill>
                <a:latin typeface="Calibri" pitchFamily="34" charset="0"/>
                <a:ea typeface="Calibri" pitchFamily="34" charset="-122"/>
                <a:cs typeface="Calibri" pitchFamily="34" charset="-120"/>
              </a:rPr>
              <a:t>ZenithMart's five-branch footprint is fundamentally sound — no branch is a structural failure. The opportunity is operational: fix targets, close the basket-size gap, and de-risk concentration at the top branch.</a:t>
            </a:r>
            <a:endParaRPr lang="en-US" sz="1100" dirty="0"/>
          </a:p>
        </p:txBody>
      </p:sp>
      <p:sp>
        <p:nvSpPr>
          <p:cNvPr id="30" name="Text 28"/>
          <p:cNvSpPr/>
          <p:nvPr/>
        </p:nvSpPr>
        <p:spPr>
          <a:xfrm>
            <a:off x="548640" y="6565392"/>
            <a:ext cx="7315200" cy="256032"/>
          </a:xfrm>
          <a:prstGeom prst="rect">
            <a:avLst/>
          </a:prstGeom>
          <a:noFill/>
          <a:ln/>
        </p:spPr>
        <p:txBody>
          <a:bodyPr wrap="square" rtlCol="0" anchor="ctr"/>
          <a:lstStyle/>
          <a:p>
            <a:pPr marL="0" indent="0">
              <a:buNone/>
            </a:pPr>
            <a:r>
              <a:rPr lang="en-US" sz="800" dirty="0">
                <a:solidFill>
                  <a:srgbClr val="9AA3C2"/>
                </a:solidFill>
                <a:latin typeface="Calibri" pitchFamily="34" charset="0"/>
                <a:ea typeface="Calibri" pitchFamily="34" charset="-122"/>
                <a:cs typeface="Calibri" pitchFamily="34" charset="-120"/>
              </a:rPr>
              <a:t>ZenithMart Retail Group  |  Branch Performance Analysis</a:t>
            </a:r>
            <a:endParaRPr lang="en-US" sz="800" dirty="0"/>
          </a:p>
        </p:txBody>
      </p:sp>
      <p:sp>
        <p:nvSpPr>
          <p:cNvPr id="31" name="Text 29"/>
          <p:cNvSpPr/>
          <p:nvPr/>
        </p:nvSpPr>
        <p:spPr>
          <a:xfrm>
            <a:off x="11521440" y="6565392"/>
            <a:ext cx="365760" cy="256032"/>
          </a:xfrm>
          <a:prstGeom prst="rect">
            <a:avLst/>
          </a:prstGeom>
          <a:noFill/>
          <a:ln/>
        </p:spPr>
        <p:txBody>
          <a:bodyPr wrap="square" rtlCol="0" anchor="ctr"/>
          <a:lstStyle/>
          <a:p>
            <a:pPr marL="0" indent="0" algn="r">
              <a:buNone/>
            </a:pPr>
            <a:r>
              <a:rPr lang="en-US" sz="800" dirty="0">
                <a:solidFill>
                  <a:srgbClr val="9AA3C2"/>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1442</TotalTime>
  <Words>2837</Words>
  <Application>Microsoft Office PowerPoint</Application>
  <PresentationFormat>Widescreen</PresentationFormat>
  <Paragraphs>361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Branch Performance Analysis, Sales Trends &amp; Strategic Business Insights</dc:title>
  <dc:subject>PptxGenJS Presentation</dc:subject>
  <dc:creator>ZenithMart Analytics Team</dc:creator>
  <cp:lastModifiedBy>Emmanuel Adepoju</cp:lastModifiedBy>
  <cp:revision>3</cp:revision>
  <dcterms:created xsi:type="dcterms:W3CDTF">2026-06-28T17:07:27Z</dcterms:created>
  <dcterms:modified xsi:type="dcterms:W3CDTF">2026-07-02T19:34:17Z</dcterms:modified>
</cp:coreProperties>
</file>